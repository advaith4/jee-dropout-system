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9" r:id="rId4"/>
  </p:sldMasterIdLst>
  <p:notesMasterIdLst>
    <p:notesMasterId r:id="rId19"/>
  </p:notesMasterIdLst>
  <p:handoutMasterIdLst>
    <p:handoutMasterId r:id="rId20"/>
  </p:handoutMasterIdLst>
  <p:sldIdLst>
    <p:sldId id="296" r:id="rId5"/>
    <p:sldId id="275" r:id="rId6"/>
    <p:sldId id="276" r:id="rId7"/>
    <p:sldId id="293" r:id="rId8"/>
    <p:sldId id="298" r:id="rId9"/>
    <p:sldId id="304" r:id="rId10"/>
    <p:sldId id="305" r:id="rId11"/>
    <p:sldId id="306" r:id="rId12"/>
    <p:sldId id="299" r:id="rId13"/>
    <p:sldId id="301" r:id="rId14"/>
    <p:sldId id="302" r:id="rId15"/>
    <p:sldId id="300" r:id="rId16"/>
    <p:sldId id="288" r:id="rId17"/>
    <p:sldId id="2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3C"/>
    <a:srgbClr val="446992"/>
    <a:srgbClr val="AEC2D8"/>
    <a:srgbClr val="98432A"/>
    <a:srgbClr val="D84400"/>
    <a:srgbClr val="44678D"/>
    <a:srgbClr val="263E5A"/>
    <a:srgbClr val="D6E0EB"/>
    <a:srgbClr val="728DAB"/>
    <a:srgbClr val="C9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p:scale>
          <a:sx n="75" d="100"/>
          <a:sy n="75" d="100"/>
        </p:scale>
        <p:origin x="902" y="283"/>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2/2/2026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2/2/2026</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1889056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2979302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FD83-4A12-3EF0-426C-8C8418A9EA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C89F5A-6A76-BFF4-CC82-85202AD8E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7914DF-7034-A39C-4606-210C5FC64E26}"/>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2E61AF0E-FDC2-7B85-1825-DA46BDC04AFF}"/>
              </a:ext>
            </a:extLst>
          </p:cNvPr>
          <p:cNvSpPr>
            <a:spLocks noGrp="1"/>
          </p:cNvSpPr>
          <p:nvPr>
            <p:ph type="ftr" sz="quarter" idx="11"/>
          </p:nvPr>
        </p:nvSpPr>
        <p:spPr/>
        <p:txBody>
          <a:bodyPr/>
          <a:lstStyle/>
          <a:p>
            <a:r>
              <a:rPr lang="en-US"/>
              <a:t>Internship Review</a:t>
            </a:r>
            <a:endParaRPr lang="en-US" dirty="0"/>
          </a:p>
        </p:txBody>
      </p:sp>
      <p:sp>
        <p:nvSpPr>
          <p:cNvPr id="6" name="Slide Number Placeholder 5">
            <a:extLst>
              <a:ext uri="{FF2B5EF4-FFF2-40B4-BE49-F238E27FC236}">
                <a16:creationId xmlns:a16="http://schemas.microsoft.com/office/drawing/2014/main" id="{BF68A449-1461-A75A-D783-E5096D8722AF}"/>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4110129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72E56-D444-A5A3-22A2-671B5D5AF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FC2FC1-83F5-C0F7-7207-0A63A6AB0E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A0AB56-688D-AC20-B3D9-EACE5D5C4F1F}"/>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8F0A2C9C-3733-9920-1C90-7CB69F3A1B33}"/>
              </a:ext>
            </a:extLst>
          </p:cNvPr>
          <p:cNvSpPr>
            <a:spLocks noGrp="1"/>
          </p:cNvSpPr>
          <p:nvPr>
            <p:ph type="ftr" sz="quarter" idx="11"/>
          </p:nvPr>
        </p:nvSpPr>
        <p:spPr/>
        <p:txBody>
          <a:bodyPr/>
          <a:lstStyle/>
          <a:p>
            <a:r>
              <a:rPr lang="en-US"/>
              <a:t>Internship Review</a:t>
            </a:r>
            <a:endParaRPr lang="en-US" dirty="0"/>
          </a:p>
        </p:txBody>
      </p:sp>
      <p:sp>
        <p:nvSpPr>
          <p:cNvPr id="6" name="Slide Number Placeholder 5">
            <a:extLst>
              <a:ext uri="{FF2B5EF4-FFF2-40B4-BE49-F238E27FC236}">
                <a16:creationId xmlns:a16="http://schemas.microsoft.com/office/drawing/2014/main" id="{DB938F77-D475-E977-1C20-B2016505CD06}"/>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1392072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26E83-87EE-3C8C-734C-3320519B5E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3ACFDF-E9CB-D31B-FA76-D452C8C2D2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1D4FCF-9ED9-A6B7-CED6-000AF439CB4E}"/>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6A684ADC-F3ED-CA2B-A906-34C69CA76C7A}"/>
              </a:ext>
            </a:extLst>
          </p:cNvPr>
          <p:cNvSpPr>
            <a:spLocks noGrp="1"/>
          </p:cNvSpPr>
          <p:nvPr>
            <p:ph type="ftr" sz="quarter" idx="11"/>
          </p:nvPr>
        </p:nvSpPr>
        <p:spPr/>
        <p:txBody>
          <a:bodyPr/>
          <a:lstStyle/>
          <a:p>
            <a:r>
              <a:rPr lang="en-US"/>
              <a:t>Internship Review</a:t>
            </a:r>
            <a:endParaRPr lang="en-US" dirty="0"/>
          </a:p>
        </p:txBody>
      </p:sp>
      <p:sp>
        <p:nvSpPr>
          <p:cNvPr id="6" name="Slide Number Placeholder 5">
            <a:extLst>
              <a:ext uri="{FF2B5EF4-FFF2-40B4-BE49-F238E27FC236}">
                <a16:creationId xmlns:a16="http://schemas.microsoft.com/office/drawing/2014/main" id="{19074D5E-4C55-FA9E-0CC3-CC0EC393409A}"/>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04431996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7BE0-EE20-2DB1-32D1-E371D18B6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CE279E-FE54-B1F1-61F3-939B3C4F49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2593CE-0768-60DA-B5B5-9A0FA712E7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621A35-1119-63C4-F810-70E7DAB06497}"/>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6" name="Footer Placeholder 5">
            <a:extLst>
              <a:ext uri="{FF2B5EF4-FFF2-40B4-BE49-F238E27FC236}">
                <a16:creationId xmlns:a16="http://schemas.microsoft.com/office/drawing/2014/main" id="{75AA7C7E-6B12-4F63-B7FC-B2AB6B7B704B}"/>
              </a:ext>
            </a:extLst>
          </p:cNvPr>
          <p:cNvSpPr>
            <a:spLocks noGrp="1"/>
          </p:cNvSpPr>
          <p:nvPr>
            <p:ph type="ftr" sz="quarter" idx="11"/>
          </p:nvPr>
        </p:nvSpPr>
        <p:spPr/>
        <p:txBody>
          <a:bodyPr/>
          <a:lstStyle/>
          <a:p>
            <a:r>
              <a:rPr lang="en-US"/>
              <a:t>Internship Review</a:t>
            </a:r>
            <a:endParaRPr lang="en-US" dirty="0"/>
          </a:p>
        </p:txBody>
      </p:sp>
      <p:sp>
        <p:nvSpPr>
          <p:cNvPr id="7" name="Slide Number Placeholder 6">
            <a:extLst>
              <a:ext uri="{FF2B5EF4-FFF2-40B4-BE49-F238E27FC236}">
                <a16:creationId xmlns:a16="http://schemas.microsoft.com/office/drawing/2014/main" id="{A9EF4622-EC84-C22E-4D24-51ECA4BA0A44}"/>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3783323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267F-A3DF-D202-921D-2BD83B7CC4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B043CC-755A-E0EE-676D-C96A288035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40BE2-A573-9BF8-4EC3-B4D677A0E6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DE23A3-176F-26D6-5335-B45E1FD538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601034-E03C-FB10-03F6-58F723E93A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96E7AE-13CE-18D7-7974-9799B9357025}"/>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8" name="Footer Placeholder 7">
            <a:extLst>
              <a:ext uri="{FF2B5EF4-FFF2-40B4-BE49-F238E27FC236}">
                <a16:creationId xmlns:a16="http://schemas.microsoft.com/office/drawing/2014/main" id="{18BF4C20-1104-6B81-5E76-3CD3963EC9FC}"/>
              </a:ext>
            </a:extLst>
          </p:cNvPr>
          <p:cNvSpPr>
            <a:spLocks noGrp="1"/>
          </p:cNvSpPr>
          <p:nvPr>
            <p:ph type="ftr" sz="quarter" idx="11"/>
          </p:nvPr>
        </p:nvSpPr>
        <p:spPr/>
        <p:txBody>
          <a:bodyPr/>
          <a:lstStyle/>
          <a:p>
            <a:r>
              <a:rPr lang="en-US"/>
              <a:t>Internship Review</a:t>
            </a:r>
            <a:endParaRPr lang="en-US" dirty="0"/>
          </a:p>
        </p:txBody>
      </p:sp>
      <p:sp>
        <p:nvSpPr>
          <p:cNvPr id="9" name="Slide Number Placeholder 8">
            <a:extLst>
              <a:ext uri="{FF2B5EF4-FFF2-40B4-BE49-F238E27FC236}">
                <a16:creationId xmlns:a16="http://schemas.microsoft.com/office/drawing/2014/main" id="{B32B3610-696E-AF2E-502D-D1E901FDF4BB}"/>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8304496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0CFD6-D276-AE54-71D5-671A6D83A5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362BB-A056-C046-99BA-B26F3F443E70}"/>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4" name="Footer Placeholder 3">
            <a:extLst>
              <a:ext uri="{FF2B5EF4-FFF2-40B4-BE49-F238E27FC236}">
                <a16:creationId xmlns:a16="http://schemas.microsoft.com/office/drawing/2014/main" id="{9E5D61EF-CA31-806A-77AC-5C9CFE8CDA98}"/>
              </a:ext>
            </a:extLst>
          </p:cNvPr>
          <p:cNvSpPr>
            <a:spLocks noGrp="1"/>
          </p:cNvSpPr>
          <p:nvPr>
            <p:ph type="ftr" sz="quarter" idx="11"/>
          </p:nvPr>
        </p:nvSpPr>
        <p:spPr/>
        <p:txBody>
          <a:bodyPr/>
          <a:lstStyle/>
          <a:p>
            <a:r>
              <a:rPr lang="en-US"/>
              <a:t>Internship Review</a:t>
            </a:r>
            <a:endParaRPr lang="en-US" dirty="0"/>
          </a:p>
        </p:txBody>
      </p:sp>
      <p:sp>
        <p:nvSpPr>
          <p:cNvPr id="5" name="Slide Number Placeholder 4">
            <a:extLst>
              <a:ext uri="{FF2B5EF4-FFF2-40B4-BE49-F238E27FC236}">
                <a16:creationId xmlns:a16="http://schemas.microsoft.com/office/drawing/2014/main" id="{A6A71DEF-68F3-A359-5898-987005D39185}"/>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03944184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27B1E6-4D02-D194-3A41-5417A602C1E4}"/>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3" name="Footer Placeholder 2">
            <a:extLst>
              <a:ext uri="{FF2B5EF4-FFF2-40B4-BE49-F238E27FC236}">
                <a16:creationId xmlns:a16="http://schemas.microsoft.com/office/drawing/2014/main" id="{3F6AC45B-B6C3-462A-F364-26B125AD70C3}"/>
              </a:ext>
            </a:extLst>
          </p:cNvPr>
          <p:cNvSpPr>
            <a:spLocks noGrp="1"/>
          </p:cNvSpPr>
          <p:nvPr>
            <p:ph type="ftr" sz="quarter" idx="11"/>
          </p:nvPr>
        </p:nvSpPr>
        <p:spPr/>
        <p:txBody>
          <a:bodyPr/>
          <a:lstStyle/>
          <a:p>
            <a:r>
              <a:rPr lang="en-US"/>
              <a:t>Internship Review</a:t>
            </a:r>
            <a:endParaRPr lang="en-US" dirty="0"/>
          </a:p>
        </p:txBody>
      </p:sp>
      <p:sp>
        <p:nvSpPr>
          <p:cNvPr id="4" name="Slide Number Placeholder 3">
            <a:extLst>
              <a:ext uri="{FF2B5EF4-FFF2-40B4-BE49-F238E27FC236}">
                <a16:creationId xmlns:a16="http://schemas.microsoft.com/office/drawing/2014/main" id="{440EEC3B-35C6-76B6-7757-582D65F67C31}"/>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431800969"/>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5468F-7187-98DF-58BE-6F5CFD50BA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F3E7D3-7193-D40C-D7B8-6CB71BF14D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0EAECD-02E0-0F11-2913-4125375A7B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3507D-F2A2-17C5-CC99-7713285D1EF6}"/>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6" name="Footer Placeholder 5">
            <a:extLst>
              <a:ext uri="{FF2B5EF4-FFF2-40B4-BE49-F238E27FC236}">
                <a16:creationId xmlns:a16="http://schemas.microsoft.com/office/drawing/2014/main" id="{15EA4170-8FCE-EBB6-71EE-35F54B2C6475}"/>
              </a:ext>
            </a:extLst>
          </p:cNvPr>
          <p:cNvSpPr>
            <a:spLocks noGrp="1"/>
          </p:cNvSpPr>
          <p:nvPr>
            <p:ph type="ftr" sz="quarter" idx="11"/>
          </p:nvPr>
        </p:nvSpPr>
        <p:spPr/>
        <p:txBody>
          <a:bodyPr/>
          <a:lstStyle/>
          <a:p>
            <a:r>
              <a:rPr lang="en-US"/>
              <a:t>Internship Review</a:t>
            </a:r>
            <a:endParaRPr lang="en-US" dirty="0"/>
          </a:p>
        </p:txBody>
      </p:sp>
      <p:sp>
        <p:nvSpPr>
          <p:cNvPr id="7" name="Slide Number Placeholder 6">
            <a:extLst>
              <a:ext uri="{FF2B5EF4-FFF2-40B4-BE49-F238E27FC236}">
                <a16:creationId xmlns:a16="http://schemas.microsoft.com/office/drawing/2014/main" id="{42F637B6-49AE-384E-0686-65194932C388}"/>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07392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1CA5-5EC6-237E-CE6F-3F56313D13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4C4773-AD8D-67C6-4946-43B2AA1A9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C3CFB2-4A29-A1C3-E651-28BD1C755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323F7-957E-93DA-EE0F-45EA9455ABF1}"/>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6" name="Footer Placeholder 5">
            <a:extLst>
              <a:ext uri="{FF2B5EF4-FFF2-40B4-BE49-F238E27FC236}">
                <a16:creationId xmlns:a16="http://schemas.microsoft.com/office/drawing/2014/main" id="{85C6D0C6-94ED-F354-F97B-323A13831870}"/>
              </a:ext>
            </a:extLst>
          </p:cNvPr>
          <p:cNvSpPr>
            <a:spLocks noGrp="1"/>
          </p:cNvSpPr>
          <p:nvPr>
            <p:ph type="ftr" sz="quarter" idx="11"/>
          </p:nvPr>
        </p:nvSpPr>
        <p:spPr/>
        <p:txBody>
          <a:bodyPr/>
          <a:lstStyle/>
          <a:p>
            <a:r>
              <a:rPr lang="en-US"/>
              <a:t>Internship Review</a:t>
            </a:r>
            <a:endParaRPr lang="en-US" dirty="0"/>
          </a:p>
        </p:txBody>
      </p:sp>
      <p:sp>
        <p:nvSpPr>
          <p:cNvPr id="7" name="Slide Number Placeholder 6">
            <a:extLst>
              <a:ext uri="{FF2B5EF4-FFF2-40B4-BE49-F238E27FC236}">
                <a16:creationId xmlns:a16="http://schemas.microsoft.com/office/drawing/2014/main" id="{A9EE92A8-CE37-2BDB-8A2D-BA9665ED6E41}"/>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959668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E9E7-32DD-2C04-E12F-FE5DE60DCE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AB5E3B-AC1C-7FFA-28D6-A2AD3F195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B5CDF-5A73-8CAC-1C04-46F522CDEC5E}"/>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7461FEE8-150C-0561-0E41-A03E97422DCE}"/>
              </a:ext>
            </a:extLst>
          </p:cNvPr>
          <p:cNvSpPr>
            <a:spLocks noGrp="1"/>
          </p:cNvSpPr>
          <p:nvPr>
            <p:ph type="ftr" sz="quarter" idx="11"/>
          </p:nvPr>
        </p:nvSpPr>
        <p:spPr/>
        <p:txBody>
          <a:bodyPr/>
          <a:lstStyle/>
          <a:p>
            <a:r>
              <a:rPr lang="en-US"/>
              <a:t>Internship Review</a:t>
            </a:r>
            <a:endParaRPr lang="en-US" dirty="0"/>
          </a:p>
        </p:txBody>
      </p:sp>
      <p:sp>
        <p:nvSpPr>
          <p:cNvPr id="6" name="Slide Number Placeholder 5">
            <a:extLst>
              <a:ext uri="{FF2B5EF4-FFF2-40B4-BE49-F238E27FC236}">
                <a16:creationId xmlns:a16="http://schemas.microsoft.com/office/drawing/2014/main" id="{371BF425-5CEA-DF68-6531-AC81D9702DDA}"/>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09490620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882CAE-F68E-0F66-7864-4EF78A7ACC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5C92B2-81FF-819D-323D-C8049CF2B4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88D723-A8EE-DA18-C493-6B411846EF11}"/>
              </a:ext>
            </a:extLst>
          </p:cNvPr>
          <p:cNvSpPr>
            <a:spLocks noGrp="1"/>
          </p:cNvSpPr>
          <p:nvPr>
            <p:ph type="dt" sz="half" idx="10"/>
          </p:nvPr>
        </p:nvSpPr>
        <p:spPr/>
        <p:txBody>
          <a:body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D07E51FD-2B85-ABA3-2D8C-F0C3FFA6F203}"/>
              </a:ext>
            </a:extLst>
          </p:cNvPr>
          <p:cNvSpPr>
            <a:spLocks noGrp="1"/>
          </p:cNvSpPr>
          <p:nvPr>
            <p:ph type="ftr" sz="quarter" idx="11"/>
          </p:nvPr>
        </p:nvSpPr>
        <p:spPr/>
        <p:txBody>
          <a:bodyPr/>
          <a:lstStyle/>
          <a:p>
            <a:r>
              <a:rPr lang="en-US"/>
              <a:t>Internship Review</a:t>
            </a:r>
            <a:endParaRPr lang="en-US" dirty="0"/>
          </a:p>
        </p:txBody>
      </p:sp>
      <p:sp>
        <p:nvSpPr>
          <p:cNvPr id="6" name="Slide Number Placeholder 5">
            <a:extLst>
              <a:ext uri="{FF2B5EF4-FFF2-40B4-BE49-F238E27FC236}">
                <a16:creationId xmlns:a16="http://schemas.microsoft.com/office/drawing/2014/main" id="{0A6FD183-90D8-2FC1-30E8-86B07A34E19B}"/>
              </a:ext>
            </a:extLst>
          </p:cNvPr>
          <p:cNvSpPr>
            <a:spLocks noGrp="1"/>
          </p:cNvSpPr>
          <p:nvPr>
            <p:ph type="sldNum" sz="quarter" idx="12"/>
          </p:nvPr>
        </p:nvSpPr>
        <p:spPr/>
        <p:txBody>
          <a:body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40162913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Internship Review</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785384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Internship Review</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1005662809"/>
      </p:ext>
    </p:extLst>
  </p:cSld>
  <p:clrMapOvr>
    <a:masterClrMapping/>
  </p:clrMapOvr>
  <p:extLst>
    <p:ext uri="{DCECCB84-F9BA-43D5-87BE-67443E8EF086}">
      <p15:sldGuideLst xmlns:p15="http://schemas.microsoft.com/office/powerpoint/2012/main">
        <p15:guide id="1" orient="horz" pos="528">
          <p15:clr>
            <a:srgbClr val="FBAE40"/>
          </p15:clr>
        </p15:guide>
        <p15:guide id="2" pos="50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Internship Review</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02615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80214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Internship Review</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0941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2837361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Internship Review</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Internship Review</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Internship Review</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Internship Review</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Internship Review</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Internship Review</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Internship Review</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E46144-EB03-ACB9-FBE1-BAED3B0C62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3043B1-E41E-ECCE-75A0-581E6F4F9A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DECBD3-5594-987B-E24A-5571EB782E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D4326E-36BD-4E60-BF05-56B41102BB80}" type="datetimeFigureOut">
              <a:rPr lang="en-US" smtClean="0"/>
              <a:t>2/2/2026</a:t>
            </a:fld>
            <a:endParaRPr lang="en-US"/>
          </a:p>
        </p:txBody>
      </p:sp>
      <p:sp>
        <p:nvSpPr>
          <p:cNvPr id="5" name="Footer Placeholder 4">
            <a:extLst>
              <a:ext uri="{FF2B5EF4-FFF2-40B4-BE49-F238E27FC236}">
                <a16:creationId xmlns:a16="http://schemas.microsoft.com/office/drawing/2014/main" id="{99A83EF8-1E69-F56D-BC13-9DB92C6F94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Internship Review</a:t>
            </a:r>
            <a:endParaRPr lang="en-US" dirty="0"/>
          </a:p>
        </p:txBody>
      </p:sp>
      <p:sp>
        <p:nvSpPr>
          <p:cNvPr id="6" name="Slide Number Placeholder 5">
            <a:extLst>
              <a:ext uri="{FF2B5EF4-FFF2-40B4-BE49-F238E27FC236}">
                <a16:creationId xmlns:a16="http://schemas.microsoft.com/office/drawing/2014/main" id="{53455880-50CA-D915-F0E9-2BE26B476B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042661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67" r:id="rId18"/>
    <p:sldLayoutId id="2147483653" r:id="rId19"/>
    <p:sldLayoutId id="2147483655" r:id="rId20"/>
    <p:sldLayoutId id="2147483656" r:id="rId21"/>
    <p:sldLayoutId id="2147483657" r:id="rId22"/>
    <p:sldLayoutId id="2147483658" r:id="rId23"/>
    <p:sldLayoutId id="2147483659" r:id="rId24"/>
    <p:sldLayoutId id="2147483668" r:id="rId25"/>
    <p:sldLayoutId id="2147483661" r:id="rId26"/>
    <p:sldLayoutId id="2147483663" r:id="rId2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a:extLst>
              <a:ext uri="{FF2B5EF4-FFF2-40B4-BE49-F238E27FC236}">
                <a16:creationId xmlns:a16="http://schemas.microsoft.com/office/drawing/2014/main" id="{ED15E7A8-38DF-6B6E-E0AE-F5A4EA607492}"/>
              </a:ext>
            </a:extLst>
          </p:cNvPr>
          <p:cNvSpPr>
            <a:spLocks noGrp="1"/>
          </p:cNvSpPr>
          <p:nvPr>
            <p:ph type="title"/>
          </p:nvPr>
        </p:nvSpPr>
        <p:spPr>
          <a:xfrm>
            <a:off x="4192298" y="2373403"/>
            <a:ext cx="4238045" cy="555274"/>
          </a:xfrm>
        </p:spPr>
        <p:txBody>
          <a:bodyPr/>
          <a:lstStyle/>
          <a:p>
            <a:pPr algn="ctr"/>
            <a:r>
              <a:rPr lang="en-US" sz="2800" dirty="0"/>
              <a:t>INTERNSHIP REVIEW</a:t>
            </a:r>
            <a:endParaRPr lang="en-US" sz="2800" b="0" i="1" dirty="0"/>
          </a:p>
        </p:txBody>
      </p:sp>
      <p:sp>
        <p:nvSpPr>
          <p:cNvPr id="9" name="Title 6">
            <a:extLst>
              <a:ext uri="{FF2B5EF4-FFF2-40B4-BE49-F238E27FC236}">
                <a16:creationId xmlns:a16="http://schemas.microsoft.com/office/drawing/2014/main" id="{6CC3143A-11D8-94BD-D589-FBBCB7A9753A}"/>
              </a:ext>
            </a:extLst>
          </p:cNvPr>
          <p:cNvSpPr txBox="1">
            <a:spLocks/>
          </p:cNvSpPr>
          <p:nvPr/>
        </p:nvSpPr>
        <p:spPr>
          <a:xfrm>
            <a:off x="1509408" y="2959520"/>
            <a:ext cx="9173182" cy="9389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en-US" sz="2800" dirty="0"/>
              <a:t>JEE DROPOUT ANALYSIS</a:t>
            </a:r>
          </a:p>
        </p:txBody>
      </p:sp>
      <p:sp>
        <p:nvSpPr>
          <p:cNvPr id="10" name="Subtitle 2">
            <a:extLst>
              <a:ext uri="{FF2B5EF4-FFF2-40B4-BE49-F238E27FC236}">
                <a16:creationId xmlns:a16="http://schemas.microsoft.com/office/drawing/2014/main" id="{3E1CF1FF-0BD5-2792-8089-B7AD6D60338B}"/>
              </a:ext>
            </a:extLst>
          </p:cNvPr>
          <p:cNvSpPr>
            <a:spLocks noGrp="1"/>
          </p:cNvSpPr>
          <p:nvPr/>
        </p:nvSpPr>
        <p:spPr>
          <a:xfrm>
            <a:off x="970216" y="4368260"/>
            <a:ext cx="10058400" cy="963368"/>
          </a:xfrm>
          <a:prstGeom prst="rect">
            <a:avLst/>
          </a:prstGeom>
        </p:spPr>
        <p:txBody>
          <a:bodyPr vert="horz" lIns="91440" tIns="45720" rIns="91440" bIns="45720" rtlCol="0">
            <a:normAutofit/>
          </a:bodyPr>
          <a:lstStyle>
            <a:lvl1pPr marL="0" indent="0" algn="l" defTabSz="914457"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28" indent="0" algn="ctr" defTabSz="914457"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57" indent="0" algn="ctr" defTabSz="914457"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85"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913"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142"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370"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598"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827" indent="0" algn="ctr" defTabSz="914457"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r"/>
            <a:r>
              <a:rPr lang="en-IN" sz="2000" dirty="0">
                <a:latin typeface="Posterama Text Black (Headings)"/>
                <a:cs typeface="Times New Roman" panose="02020603050405020304" pitchFamily="18" charset="0"/>
              </a:rPr>
              <a:t>				                   Presented by</a:t>
            </a:r>
          </a:p>
          <a:p>
            <a:pPr algn="r"/>
            <a:r>
              <a:rPr lang="en-IN" sz="2000" dirty="0">
                <a:latin typeface="Posterama Text Black (Headings)"/>
                <a:cs typeface="Times New Roman" panose="02020603050405020304" pitchFamily="18" charset="0"/>
              </a:rPr>
              <a:t>						2301006-ADVAITH G</a:t>
            </a:r>
          </a:p>
        </p:txBody>
      </p:sp>
      <p:pic>
        <p:nvPicPr>
          <p:cNvPr id="5" name="Picture 4" descr="A close-up of a logo&#10;&#10;AI-generated content may be incorrect.">
            <a:extLst>
              <a:ext uri="{FF2B5EF4-FFF2-40B4-BE49-F238E27FC236}">
                <a16:creationId xmlns:a16="http://schemas.microsoft.com/office/drawing/2014/main" id="{F0B0D4FE-3F53-5182-B139-A89722E7C85E}"/>
              </a:ext>
            </a:extLst>
          </p:cNvPr>
          <p:cNvPicPr>
            <a:picLocks noChangeAspect="1"/>
          </p:cNvPicPr>
          <p:nvPr/>
        </p:nvPicPr>
        <p:blipFill>
          <a:blip r:embed="rId2" cstate="print">
            <a:extLst>
              <a:ext uri="{28A0092B-C50C-407E-A947-70E740481C1C}">
                <a14:useLocalDpi xmlns:a14="http://schemas.microsoft.com/office/drawing/2010/main" val="0"/>
              </a:ext>
            </a:extLst>
          </a:blip>
          <a:srcRect r="77238"/>
          <a:stretch>
            <a:fillRect/>
          </a:stretch>
        </p:blipFill>
        <p:spPr>
          <a:xfrm>
            <a:off x="507661" y="229680"/>
            <a:ext cx="1247398" cy="1659650"/>
          </a:xfrm>
          <a:prstGeom prst="rect">
            <a:avLst/>
          </a:prstGeom>
        </p:spPr>
      </p:pic>
      <p:pic>
        <p:nvPicPr>
          <p:cNvPr id="7" name="Picture 6" descr="A logo with text and a flower&#10;&#10;AI-generated content may be incorrect.">
            <a:extLst>
              <a:ext uri="{FF2B5EF4-FFF2-40B4-BE49-F238E27FC236}">
                <a16:creationId xmlns:a16="http://schemas.microsoft.com/office/drawing/2014/main" id="{DCDEB1D7-2BFB-740E-3F0F-D535369A2F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32849" y="104912"/>
            <a:ext cx="1051491" cy="1421460"/>
          </a:xfrm>
          <a:prstGeom prst="rect">
            <a:avLst/>
          </a:prstGeom>
        </p:spPr>
      </p:pic>
      <p:sp>
        <p:nvSpPr>
          <p:cNvPr id="8" name="Text Box 2">
            <a:extLst>
              <a:ext uri="{FF2B5EF4-FFF2-40B4-BE49-F238E27FC236}">
                <a16:creationId xmlns:a16="http://schemas.microsoft.com/office/drawing/2014/main" id="{64FDC2EC-F4D1-3426-B2C6-49275F6AC632}"/>
              </a:ext>
            </a:extLst>
          </p:cNvPr>
          <p:cNvSpPr txBox="1">
            <a:spLocks noChangeArrowheads="1"/>
          </p:cNvSpPr>
          <p:nvPr/>
        </p:nvSpPr>
        <p:spPr bwMode="auto">
          <a:xfrm>
            <a:off x="3307564" y="1040329"/>
            <a:ext cx="5846660" cy="1036181"/>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marL="0" marR="0" algn="ctr">
              <a:spcAft>
                <a:spcPts val="800"/>
              </a:spcAft>
              <a:buNone/>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[Educational Service : SNR Sons Charitable Trust]</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spcAft>
                <a:spcPts val="800"/>
              </a:spcAft>
              <a:buNone/>
            </a:pPr>
            <a:r>
              <a:rPr lang="en-US" sz="1600" b="1" kern="100" dirty="0" err="1">
                <a:effectLst/>
                <a:latin typeface="Times New Roman" panose="02020603050405020304" pitchFamily="18" charset="0"/>
                <a:ea typeface="Calibri" panose="020F0502020204030204" pitchFamily="34" charset="0"/>
                <a:cs typeface="Times New Roman" panose="02020603050405020304" pitchFamily="18" charset="0"/>
              </a:rPr>
              <a:t>Vattamalaipalayam</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 N.G.G.O. Colony Post,</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spcAft>
                <a:spcPts val="800"/>
              </a:spcAft>
              <a:buNone/>
            </a:pPr>
            <a:r>
              <a:rPr lang="pt-BR" sz="1600" b="1" kern="100" dirty="0">
                <a:effectLst/>
                <a:latin typeface="Times New Roman" panose="02020603050405020304" pitchFamily="18" charset="0"/>
                <a:ea typeface="Calibri" panose="020F0502020204030204" pitchFamily="34" charset="0"/>
                <a:cs typeface="Times New Roman" panose="02020603050405020304" pitchFamily="18" charset="0"/>
              </a:rPr>
              <a:t>Coimbatore – 641022</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itle 6">
            <a:extLst>
              <a:ext uri="{FF2B5EF4-FFF2-40B4-BE49-F238E27FC236}">
                <a16:creationId xmlns:a16="http://schemas.microsoft.com/office/drawing/2014/main" id="{7BE745BC-36B4-D3C3-31DB-D567F91BB1C4}"/>
              </a:ext>
            </a:extLst>
          </p:cNvPr>
          <p:cNvSpPr txBox="1">
            <a:spLocks/>
          </p:cNvSpPr>
          <p:nvPr/>
        </p:nvSpPr>
        <p:spPr>
          <a:xfrm>
            <a:off x="1724730" y="278932"/>
            <a:ext cx="9173182" cy="9389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en-US" sz="3600" dirty="0">
                <a:solidFill>
                  <a:srgbClr val="00523C"/>
                </a:solidFill>
              </a:rPr>
              <a:t>SRI RAMAKRISHNA ENGINEERING COLLEGE</a:t>
            </a:r>
          </a:p>
        </p:txBody>
      </p:sp>
    </p:spTree>
    <p:extLst>
      <p:ext uri="{BB962C8B-B14F-4D97-AF65-F5344CB8AC3E}">
        <p14:creationId xmlns:p14="http://schemas.microsoft.com/office/powerpoint/2010/main" val="135041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a:xfrm>
            <a:off x="512572" y="4250987"/>
            <a:ext cx="4253399" cy="924672"/>
          </a:xfrm>
        </p:spPr>
        <p:txBody>
          <a:bodyPr/>
          <a:lstStyle/>
          <a:p>
            <a:pPr algn="ctr"/>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pPr>
              <a:lnSpc>
                <a:spcPct val="100000"/>
              </a:lnSpc>
            </a:pPr>
            <a:r>
              <a:rPr lang="en-IN" dirty="0">
                <a:latin typeface="+mn-lt"/>
                <a:cs typeface="Times New Roman" panose="02020603050405020304" pitchFamily="18" charset="0"/>
              </a:rPr>
              <a:t>Company </a:t>
            </a:r>
          </a:p>
          <a:p>
            <a:pPr>
              <a:lnSpc>
                <a:spcPct val="100000"/>
              </a:lnSpc>
            </a:pPr>
            <a:r>
              <a:rPr lang="en-IN" dirty="0">
                <a:latin typeface="+mn-lt"/>
                <a:cs typeface="Times New Roman" panose="02020603050405020304" pitchFamily="18" charset="0"/>
              </a:rPr>
              <a:t>profile</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pPr>
              <a:lnSpc>
                <a:spcPct val="150000"/>
              </a:lnSpc>
            </a:pPr>
            <a:r>
              <a:rPr lang="en-IN" sz="1800" dirty="0">
                <a:latin typeface="+mn-lt"/>
                <a:cs typeface="Times New Roman" panose="02020603050405020304" pitchFamily="18" charset="0"/>
              </a:rPr>
              <a:t>Project details</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pPr>
              <a:lnSpc>
                <a:spcPct val="150000"/>
              </a:lnSpc>
            </a:pPr>
            <a:r>
              <a:rPr lang="en-IN" sz="1800" dirty="0">
                <a:latin typeface="+mn-lt"/>
                <a:cs typeface="Times New Roman" panose="02020603050405020304" pitchFamily="18" charset="0"/>
              </a:rPr>
              <a:t>Project modules</a:t>
            </a:r>
            <a:endParaRPr lang="en-US" dirty="0">
              <a:latin typeface="+mn-lt"/>
            </a:endParaRP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IN" sz="1800" dirty="0">
                <a:latin typeface="+mn-lt"/>
                <a:cs typeface="Times New Roman" panose="02020603050405020304" pitchFamily="18" charset="0"/>
              </a:rPr>
              <a:t>Project Screenshots</a:t>
            </a:r>
            <a:endParaRPr lang="en-US" dirty="0">
              <a:latin typeface="+mn-lt"/>
            </a:endParaRP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dirty="0"/>
              <a:t>Summary</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Tree>
    <p:extLst>
      <p:ext uri="{BB962C8B-B14F-4D97-AF65-F5344CB8AC3E}">
        <p14:creationId xmlns:p14="http://schemas.microsoft.com/office/powerpoint/2010/main" val="277553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0" end="0"/>
                                            </p:txEl>
                                          </p:spTgt>
                                        </p:tgtEl>
                                        <p:attrNameLst>
                                          <p:attrName>style.visibility</p:attrName>
                                        </p:attrNameLst>
                                      </p:cBhvr>
                                      <p:to>
                                        <p:strVal val="visible"/>
                                      </p:to>
                                    </p:set>
                                    <p:animEffect transition="in" filter="fade">
                                      <p:cBhvr>
                                        <p:cTn id="10" dur="500"/>
                                        <p:tgtEl>
                                          <p:spTgt spid="1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Effect transition="in" filter="fade">
                                      <p:cBhvr>
                                        <p:cTn id="13" dur="500"/>
                                        <p:tgtEl>
                                          <p:spTgt spid="1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animEffect transition="in" filter="fade">
                                      <p:cBhvr>
                                        <p:cTn id="16" dur="500"/>
                                        <p:tgtEl>
                                          <p:spTgt spid="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Effect transition="in" filter="fade">
                                      <p:cBhvr>
                                        <p:cTn id="19" dur="500"/>
                                        <p:tgtEl>
                                          <p:spTgt spid="18">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500"/>
                                        <p:tgtEl>
                                          <p:spTgt spid="22">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animEffect transition="in" filter="fade">
                                      <p:cBhvr>
                                        <p:cTn id="25" dur="500"/>
                                        <p:tgtEl>
                                          <p:spTgt spid="24">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6" grpId="0" build="p"/>
      <p:bldP spid="9" grpId="0" build="p"/>
      <p:bldP spid="18" grpId="0" build="p"/>
      <p:bldP spid="22" grpId="0" build="p"/>
      <p:bldP spid="24" grpId="0" build="p"/>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3537419" y="406847"/>
            <a:ext cx="5117162" cy="766804"/>
          </a:xfrm>
        </p:spPr>
        <p:txBody>
          <a:bodyPr/>
          <a:lstStyle/>
          <a:p>
            <a:pPr algn="ctr"/>
            <a:r>
              <a:rPr lang="en-US" sz="3600" dirty="0"/>
              <a:t>COMPANY PROFILE</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509573" y="1682885"/>
            <a:ext cx="11143187" cy="3047191"/>
          </a:xfrm>
        </p:spPr>
        <p:txBody>
          <a:bodyPr/>
          <a:lstStyle/>
          <a:p>
            <a:pPr algn="just"/>
            <a:r>
              <a:rPr lang="en-IN" sz="1600" b="1" dirty="0">
                <a:latin typeface="Abadi (Body)"/>
                <a:cs typeface="Times New Roman" panose="02020603050405020304" pitchFamily="18" charset="0"/>
              </a:rPr>
              <a:t>Company Name: </a:t>
            </a:r>
            <a:r>
              <a:rPr lang="en-IN" sz="1600" dirty="0" err="1"/>
              <a:t>NextLogic</a:t>
            </a:r>
            <a:r>
              <a:rPr lang="en-IN" sz="1600" dirty="0"/>
              <a:t> Software Solutions</a:t>
            </a:r>
            <a:r>
              <a:rPr lang="en-IN" sz="1600" dirty="0">
                <a:latin typeface="Abadi (Body)"/>
                <a:cs typeface="Times New Roman" panose="02020603050405020304" pitchFamily="18" charset="0"/>
              </a:rPr>
              <a:t>            		        </a:t>
            </a:r>
            <a:r>
              <a:rPr lang="en-IN" sz="1600" b="1" dirty="0">
                <a:latin typeface="Abadi (Body)"/>
                <a:cs typeface="Times New Roman" panose="02020603050405020304" pitchFamily="18" charset="0"/>
              </a:rPr>
              <a:t>Company Location: </a:t>
            </a:r>
            <a:r>
              <a:rPr lang="en-IN" sz="1600" dirty="0">
                <a:latin typeface="Abadi (Body)"/>
                <a:cs typeface="Times New Roman" panose="02020603050405020304" pitchFamily="18" charset="0"/>
              </a:rPr>
              <a:t>Coimbatore, Tamil Nadu.</a:t>
            </a:r>
          </a:p>
          <a:p>
            <a:pPr algn="just"/>
            <a:endParaRPr lang="en-IN" sz="1600" b="1" dirty="0">
              <a:latin typeface="Abadi (Body)"/>
              <a:cs typeface="Times New Roman" panose="02020603050405020304" pitchFamily="18" charset="0"/>
            </a:endParaRPr>
          </a:p>
          <a:p>
            <a:r>
              <a:rPr lang="en-IN" sz="1600" b="1" dirty="0">
                <a:latin typeface="Abadi (Body)"/>
                <a:cs typeface="Times New Roman" panose="02020603050405020304" pitchFamily="18" charset="0"/>
              </a:rPr>
              <a:t>Company Description:</a:t>
            </a:r>
          </a:p>
          <a:p>
            <a:pPr algn="just">
              <a:lnSpc>
                <a:spcPct val="150000"/>
              </a:lnSpc>
            </a:pPr>
            <a:r>
              <a:rPr lang="en-US" sz="1600" b="1" dirty="0" err="1"/>
              <a:t>NextLogic</a:t>
            </a:r>
            <a:r>
              <a:rPr lang="en-US" sz="1600" b="1" dirty="0"/>
              <a:t> Software Solutions</a:t>
            </a:r>
            <a:r>
              <a:rPr lang="en-US" sz="1600" dirty="0"/>
              <a:t>, commonly known as </a:t>
            </a:r>
            <a:r>
              <a:rPr lang="en-US" sz="1600" dirty="0" err="1"/>
              <a:t>Nxtlogic</a:t>
            </a:r>
            <a:r>
              <a:rPr lang="en-US" sz="1600" dirty="0"/>
              <a:t>, is a technology and research-oriented company headquartered in Coimbatore, Tamil Nadu, India, established in 2009. It is a technology-driven organization that provides software development, artificial intelligence, machine learning solutions, and industry-focused training. </a:t>
            </a:r>
            <a:r>
              <a:rPr lang="en-US" sz="1600" dirty="0" err="1"/>
              <a:t>NextLogic</a:t>
            </a:r>
            <a:r>
              <a:rPr lang="en-US" sz="1600" dirty="0"/>
              <a:t> focuses on turning innovative ideas into powerful digital outcomes through a combination of cutting-edge technologies and practical expertise.</a:t>
            </a:r>
            <a:endParaRPr lang="en-IN" sz="1600" dirty="0">
              <a:latin typeface="Abadi (Body)"/>
              <a:cs typeface="Times New Roman" panose="02020603050405020304" pitchFamily="18" charset="0"/>
            </a:endParaRPr>
          </a:p>
        </p:txBody>
      </p:sp>
      <p:sp>
        <p:nvSpPr>
          <p:cNvPr id="2" name="Footer Placeholder 1">
            <a:extLst>
              <a:ext uri="{FF2B5EF4-FFF2-40B4-BE49-F238E27FC236}">
                <a16:creationId xmlns:a16="http://schemas.microsoft.com/office/drawing/2014/main" id="{31CA4127-CEE0-5834-6BC3-6E1247C9B9C5}"/>
              </a:ext>
            </a:extLst>
          </p:cNvPr>
          <p:cNvSpPr>
            <a:spLocks noGrp="1"/>
          </p:cNvSpPr>
          <p:nvPr>
            <p:ph type="ftr" sz="quarter" idx="52"/>
          </p:nvPr>
        </p:nvSpPr>
        <p:spPr>
          <a:xfrm>
            <a:off x="4038600" y="6217920"/>
            <a:ext cx="4114800" cy="365125"/>
          </a:xfrm>
        </p:spPr>
        <p:txBody>
          <a:bodyPr/>
          <a:lstStyle/>
          <a:p>
            <a:pPr algn="ctr"/>
            <a:r>
              <a:rPr lang="en-US" dirty="0"/>
              <a:t>Internship Review</a:t>
            </a:r>
          </a:p>
        </p:txBody>
      </p:sp>
      <p:sp>
        <p:nvSpPr>
          <p:cNvPr id="3" name="Slide Number Placeholder 2">
            <a:extLst>
              <a:ext uri="{FF2B5EF4-FFF2-40B4-BE49-F238E27FC236}">
                <a16:creationId xmlns:a16="http://schemas.microsoft.com/office/drawing/2014/main" id="{5C4163F9-C1A0-839F-10C2-3B2D86D57996}"/>
              </a:ext>
            </a:extLst>
          </p:cNvPr>
          <p:cNvSpPr>
            <a:spLocks noGrp="1"/>
          </p:cNvSpPr>
          <p:nvPr>
            <p:ph type="sldNum" sz="quarter" idx="53"/>
          </p:nvPr>
        </p:nvSpPr>
        <p:spPr/>
        <p:txBody>
          <a:bodyPr/>
          <a:lstStyle/>
          <a:p>
            <a:r>
              <a:rPr lang="en-US" altLang="zh-CN" dirty="0"/>
              <a:t>1</a:t>
            </a:r>
          </a:p>
        </p:txBody>
      </p:sp>
      <p:sp>
        <p:nvSpPr>
          <p:cNvPr id="10" name="TextBox 5">
            <a:extLst>
              <a:ext uri="{FF2B5EF4-FFF2-40B4-BE49-F238E27FC236}">
                <a16:creationId xmlns:a16="http://schemas.microsoft.com/office/drawing/2014/main" id="{EE6DCF51-1D99-5DE6-51B2-6F61661C472C}"/>
              </a:ext>
            </a:extLst>
          </p:cNvPr>
          <p:cNvSpPr txBox="1"/>
          <p:nvPr/>
        </p:nvSpPr>
        <p:spPr>
          <a:xfrm>
            <a:off x="539239" y="4730076"/>
            <a:ext cx="5775649" cy="12950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en-US" b="1" dirty="0">
                <a:latin typeface="Abadi (Body)"/>
                <a:ea typeface="Times New Roman" panose="02020603050405020304" pitchFamily="18" charset="0"/>
                <a:cs typeface="Times New Roman" panose="02020603050405020304" pitchFamily="18" charset="0"/>
              </a:rPr>
              <a:t>Services Offered:</a:t>
            </a:r>
          </a:p>
          <a:p>
            <a:pPr marL="285750" indent="-285750">
              <a:lnSpc>
                <a:spcPct val="150000"/>
              </a:lnSpc>
              <a:buFont typeface="Arial" panose="020B0604020202020204" pitchFamily="34" charset="0"/>
              <a:buChar char="•"/>
            </a:pPr>
            <a:r>
              <a:rPr lang="en-US" dirty="0">
                <a:latin typeface="Abadi (Body)"/>
                <a:ea typeface="Times New Roman" panose="02020603050405020304" pitchFamily="18" charset="0"/>
              </a:rPr>
              <a:t>Web Development</a:t>
            </a:r>
          </a:p>
          <a:p>
            <a:pPr marL="285750" indent="-285750">
              <a:lnSpc>
                <a:spcPct val="150000"/>
              </a:lnSpc>
              <a:buFont typeface="Arial" panose="020B0604020202020204" pitchFamily="34" charset="0"/>
              <a:buChar char="•"/>
            </a:pPr>
            <a:r>
              <a:rPr lang="en-US" dirty="0">
                <a:latin typeface="Abadi (Body)"/>
                <a:ea typeface="Times New Roman" panose="02020603050405020304" pitchFamily="18" charset="0"/>
              </a:rPr>
              <a:t>Software Development</a:t>
            </a:r>
            <a:endParaRPr lang="en-IN" dirty="0">
              <a:latin typeface="Abadi (Body)"/>
              <a:ea typeface="Times New Roman" panose="02020603050405020304" pitchFamily="18" charset="0"/>
              <a:cs typeface="Times New Roman" panose="02020603050405020304" pitchFamily="18" charset="0"/>
            </a:endParaRPr>
          </a:p>
        </p:txBody>
      </p:sp>
      <p:sp>
        <p:nvSpPr>
          <p:cNvPr id="11" name="TextBox 5">
            <a:extLst>
              <a:ext uri="{FF2B5EF4-FFF2-40B4-BE49-F238E27FC236}">
                <a16:creationId xmlns:a16="http://schemas.microsoft.com/office/drawing/2014/main" id="{05662096-B79C-B6BC-F23D-85CC4BD95965}"/>
              </a:ext>
            </a:extLst>
          </p:cNvPr>
          <p:cNvSpPr txBox="1"/>
          <p:nvPr/>
        </p:nvSpPr>
        <p:spPr>
          <a:xfrm>
            <a:off x="6314889" y="4789972"/>
            <a:ext cx="5337872" cy="12950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endParaRPr lang="en-US" dirty="0">
              <a:latin typeface="Abadi (Body)"/>
              <a:ea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Abadi (Body)"/>
                <a:ea typeface="Times New Roman" panose="02020603050405020304" pitchFamily="18" charset="0"/>
              </a:rPr>
              <a:t>Mobile App Development</a:t>
            </a:r>
          </a:p>
          <a:p>
            <a:pPr marL="285750" indent="-285750">
              <a:lnSpc>
                <a:spcPct val="150000"/>
              </a:lnSpc>
              <a:buFont typeface="Arial" panose="020B0604020202020204" pitchFamily="34" charset="0"/>
              <a:buChar char="•"/>
            </a:pPr>
            <a:r>
              <a:rPr lang="en-US" dirty="0">
                <a:latin typeface="Abadi (Body)"/>
                <a:ea typeface="Times New Roman" panose="02020603050405020304" pitchFamily="18" charset="0"/>
              </a:rPr>
              <a:t>AIML</a:t>
            </a:r>
            <a:endParaRPr lang="en-IN" dirty="0">
              <a:latin typeface="Abadi (Body)"/>
              <a:ea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7FF21AA-5084-7529-416C-026FC7A192AD}"/>
              </a:ext>
            </a:extLst>
          </p:cNvPr>
          <p:cNvPicPr>
            <a:picLocks noChangeAspect="1"/>
          </p:cNvPicPr>
          <p:nvPr/>
        </p:nvPicPr>
        <p:blipFill>
          <a:blip r:embed="rId3"/>
          <a:stretch>
            <a:fillRect/>
          </a:stretch>
        </p:blipFill>
        <p:spPr>
          <a:xfrm>
            <a:off x="8610600" y="201523"/>
            <a:ext cx="2690782" cy="1348512"/>
          </a:xfrm>
          <a:prstGeom prst="rect">
            <a:avLst/>
          </a:prstGeom>
        </p:spPr>
      </p:pic>
    </p:spTree>
    <p:extLst>
      <p:ext uri="{BB962C8B-B14F-4D97-AF65-F5344CB8AC3E}">
        <p14:creationId xmlns:p14="http://schemas.microsoft.com/office/powerpoint/2010/main" val="7755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0" end="0"/>
                                            </p:txEl>
                                          </p:spTgt>
                                        </p:tgtEl>
                                        <p:attrNameLst>
                                          <p:attrName>style.visibility</p:attrName>
                                        </p:attrNameLst>
                                      </p:cBhvr>
                                      <p:to>
                                        <p:strVal val="visible"/>
                                      </p:to>
                                    </p:set>
                                    <p:animEffect transition="in" filter="fade">
                                      <p:cBhvr>
                                        <p:cTn id="10" dur="500"/>
                                        <p:tgtEl>
                                          <p:spTgt spid="20">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xEl>
                                              <p:pRg st="2" end="2"/>
                                            </p:txEl>
                                          </p:spTgt>
                                        </p:tgtEl>
                                        <p:attrNameLst>
                                          <p:attrName>style.visibility</p:attrName>
                                        </p:attrNameLst>
                                      </p:cBhvr>
                                      <p:to>
                                        <p:strVal val="visible"/>
                                      </p:to>
                                    </p:set>
                                    <p:animEffect transition="in" filter="fade">
                                      <p:cBhvr>
                                        <p:cTn id="13" dur="500"/>
                                        <p:tgtEl>
                                          <p:spTgt spid="20">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build="p"/>
      <p:bldP spid="2" grpId="0"/>
      <p:bldP spid="3"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Placeholder 36">
            <a:extLst>
              <a:ext uri="{FF2B5EF4-FFF2-40B4-BE49-F238E27FC236}">
                <a16:creationId xmlns:a16="http://schemas.microsoft.com/office/drawing/2014/main" id="{16D3C8BC-FB28-3127-D29E-D4195120A3CA}"/>
              </a:ext>
            </a:extLst>
          </p:cNvPr>
          <p:cNvSpPr>
            <a:spLocks noGrp="1"/>
          </p:cNvSpPr>
          <p:nvPr>
            <p:ph type="body" sz="quarter" idx="27"/>
          </p:nvPr>
        </p:nvSpPr>
        <p:spPr>
          <a:xfrm>
            <a:off x="4550705" y="4042625"/>
            <a:ext cx="2653545" cy="587964"/>
          </a:xfrm>
        </p:spPr>
        <p:txBody>
          <a:bodyPr/>
          <a:lstStyle/>
          <a:p>
            <a:pPr algn="ctr"/>
            <a:r>
              <a:rPr lang="en-US" dirty="0"/>
              <a:t>Frontend Technologies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a:xfrm>
            <a:off x="4550706" y="4663543"/>
            <a:ext cx="2653545" cy="1142607"/>
          </a:xfrm>
        </p:spPr>
        <p:txBody>
          <a:bodyPr/>
          <a:lstStyle/>
          <a:p>
            <a:pPr marL="285750" indent="-285750">
              <a:buFont typeface="Arial" panose="020B0604020202020204" pitchFamily="34" charset="0"/>
              <a:buChar char="•"/>
            </a:pPr>
            <a:r>
              <a:rPr lang="en-US" sz="1600" dirty="0">
                <a:solidFill>
                  <a:schemeClr val="tx1"/>
                </a:solidFill>
              </a:rPr>
              <a:t>HTML</a:t>
            </a:r>
          </a:p>
          <a:p>
            <a:pPr marL="285750" indent="-285750">
              <a:buFont typeface="Arial" panose="020B0604020202020204" pitchFamily="34" charset="0"/>
              <a:buChar char="•"/>
            </a:pPr>
            <a:r>
              <a:rPr lang="en-US" sz="1600" dirty="0">
                <a:solidFill>
                  <a:schemeClr val="tx1"/>
                </a:solidFill>
              </a:rPr>
              <a:t>CSS</a:t>
            </a:r>
          </a:p>
          <a:p>
            <a:pPr marL="285750" indent="-285750">
              <a:buFont typeface="Arial" panose="020B0604020202020204" pitchFamily="34" charset="0"/>
              <a:buChar char="•"/>
            </a:pPr>
            <a:r>
              <a:rPr lang="en-US" sz="1600" dirty="0">
                <a:solidFill>
                  <a:schemeClr val="tx1"/>
                </a:solidFill>
              </a:rPr>
              <a:t>JS</a:t>
            </a:r>
          </a:p>
        </p:txBody>
      </p:sp>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t="14" b="14"/>
          <a:stretch>
            <a:fillRect/>
          </a:stretch>
        </p:blipFill>
        <p:spPr/>
      </p:pic>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4802018" y="204365"/>
            <a:ext cx="6599429" cy="720316"/>
          </a:xfrm>
        </p:spPr>
        <p:txBody>
          <a:bodyPr/>
          <a:lstStyle/>
          <a:p>
            <a:pPr algn="ctr"/>
            <a:r>
              <a:rPr lang="en-US" sz="3600" dirty="0"/>
              <a:t>PROJECT DETAILS</a:t>
            </a:r>
          </a:p>
        </p:txBody>
      </p:sp>
      <p:sp>
        <p:nvSpPr>
          <p:cNvPr id="35" name="Text Placeholder 34">
            <a:extLst>
              <a:ext uri="{FF2B5EF4-FFF2-40B4-BE49-F238E27FC236}">
                <a16:creationId xmlns:a16="http://schemas.microsoft.com/office/drawing/2014/main" id="{2C8E94EA-2767-D144-C1BB-32AA2C99723B}"/>
              </a:ext>
            </a:extLst>
          </p:cNvPr>
          <p:cNvSpPr>
            <a:spLocks noGrp="1"/>
          </p:cNvSpPr>
          <p:nvPr>
            <p:ph type="body" sz="quarter" idx="52"/>
          </p:nvPr>
        </p:nvSpPr>
        <p:spPr>
          <a:xfrm>
            <a:off x="7632060" y="4039806"/>
            <a:ext cx="2653545" cy="587964"/>
          </a:xfrm>
        </p:spPr>
        <p:txBody>
          <a:bodyPr/>
          <a:lstStyle/>
          <a:p>
            <a:pPr algn="ctr"/>
            <a:r>
              <a:rPr lang="en-US" dirty="0"/>
              <a:t>Backend Technologies</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type="body" sz="quarter" idx="53"/>
          </p:nvPr>
        </p:nvSpPr>
        <p:spPr>
          <a:xfrm>
            <a:off x="7632060" y="4657810"/>
            <a:ext cx="2653545" cy="587964"/>
          </a:xfrm>
        </p:spPr>
        <p:txBody>
          <a:bodyPr/>
          <a:lstStyle/>
          <a:p>
            <a:pPr marL="285750" indent="-285750">
              <a:buFont typeface="Arial" panose="020B0604020202020204" pitchFamily="34" charset="0"/>
              <a:buChar char="•"/>
            </a:pPr>
            <a:r>
              <a:rPr lang="en-US" sz="1600" dirty="0">
                <a:solidFill>
                  <a:schemeClr val="tx1"/>
                </a:solidFill>
              </a:rPr>
              <a:t>Python</a:t>
            </a:r>
          </a:p>
          <a:p>
            <a:pPr marL="285750" indent="-285750">
              <a:buFont typeface="Arial" panose="020B0604020202020204" pitchFamily="34" charset="0"/>
              <a:buChar char="•"/>
            </a:pPr>
            <a:r>
              <a:rPr lang="en-US" sz="1600" dirty="0">
                <a:solidFill>
                  <a:schemeClr val="tx1"/>
                </a:solidFill>
              </a:rPr>
              <a:t>Flask</a:t>
            </a:r>
          </a:p>
        </p:txBody>
      </p:sp>
      <p:sp>
        <p:nvSpPr>
          <p:cNvPr id="2" name="Slide Number Placeholder 1">
            <a:extLst>
              <a:ext uri="{FF2B5EF4-FFF2-40B4-BE49-F238E27FC236}">
                <a16:creationId xmlns:a16="http://schemas.microsoft.com/office/drawing/2014/main" id="{FA17F91F-F529-A9A5-EEF6-F525AF9F4047}"/>
              </a:ext>
            </a:extLst>
          </p:cNvPr>
          <p:cNvSpPr>
            <a:spLocks noGrp="1"/>
          </p:cNvSpPr>
          <p:nvPr>
            <p:ph type="sldNum" sz="quarter" idx="55"/>
          </p:nvPr>
        </p:nvSpPr>
        <p:spPr/>
        <p:txBody>
          <a:bodyPr/>
          <a:lstStyle/>
          <a:p>
            <a:r>
              <a:rPr lang="en-US" altLang="zh-CN" dirty="0"/>
              <a:t>2</a:t>
            </a:r>
          </a:p>
        </p:txBody>
      </p:sp>
      <p:sp>
        <p:nvSpPr>
          <p:cNvPr id="3" name="Text Placeholder 34">
            <a:extLst>
              <a:ext uri="{FF2B5EF4-FFF2-40B4-BE49-F238E27FC236}">
                <a16:creationId xmlns:a16="http://schemas.microsoft.com/office/drawing/2014/main" id="{4534D97D-18C8-F520-30D5-A258AD5160EC}"/>
              </a:ext>
            </a:extLst>
          </p:cNvPr>
          <p:cNvSpPr txBox="1">
            <a:spLocks/>
          </p:cNvSpPr>
          <p:nvPr/>
        </p:nvSpPr>
        <p:spPr>
          <a:xfrm>
            <a:off x="7434836" y="4964031"/>
            <a:ext cx="2653545" cy="587964"/>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Machine Learning</a:t>
            </a:r>
          </a:p>
        </p:txBody>
      </p:sp>
      <p:sp>
        <p:nvSpPr>
          <p:cNvPr id="4" name="Text Placeholder 43">
            <a:extLst>
              <a:ext uri="{FF2B5EF4-FFF2-40B4-BE49-F238E27FC236}">
                <a16:creationId xmlns:a16="http://schemas.microsoft.com/office/drawing/2014/main" id="{9AFBC34C-9CC5-A150-780E-6D2BEA001E3E}"/>
              </a:ext>
            </a:extLst>
          </p:cNvPr>
          <p:cNvSpPr txBox="1">
            <a:spLocks/>
          </p:cNvSpPr>
          <p:nvPr/>
        </p:nvSpPr>
        <p:spPr>
          <a:xfrm>
            <a:off x="7632060" y="5507080"/>
            <a:ext cx="2653545" cy="5879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solidFill>
                  <a:schemeClr val="tx1"/>
                </a:solidFill>
              </a:rPr>
              <a:t>Scikit-Learn</a:t>
            </a:r>
          </a:p>
          <a:p>
            <a:pPr marL="285750" indent="-285750">
              <a:buFont typeface="Arial" panose="020B0604020202020204" pitchFamily="34" charset="0"/>
              <a:buChar char="•"/>
            </a:pPr>
            <a:r>
              <a:rPr lang="en-US" sz="1600" dirty="0">
                <a:solidFill>
                  <a:schemeClr val="tx1"/>
                </a:solidFill>
              </a:rPr>
              <a:t>Pandas</a:t>
            </a:r>
          </a:p>
          <a:p>
            <a:pPr marL="285750" indent="-285750">
              <a:buFont typeface="Arial" panose="020B0604020202020204" pitchFamily="34" charset="0"/>
              <a:buChar char="•"/>
            </a:pPr>
            <a:r>
              <a:rPr lang="en-US" sz="1600" dirty="0" err="1">
                <a:solidFill>
                  <a:schemeClr val="tx1"/>
                </a:solidFill>
              </a:rPr>
              <a:t>Numpy</a:t>
            </a:r>
            <a:endParaRPr lang="en-US" sz="1600" dirty="0">
              <a:solidFill>
                <a:schemeClr val="tx1"/>
              </a:solidFill>
            </a:endParaRPr>
          </a:p>
          <a:p>
            <a:pPr marL="285750" indent="-285750">
              <a:buFont typeface="Arial" panose="020B0604020202020204" pitchFamily="34" charset="0"/>
              <a:buChar char="•"/>
            </a:pPr>
            <a:r>
              <a:rPr lang="en-US" sz="1600" dirty="0" err="1">
                <a:solidFill>
                  <a:schemeClr val="tx1"/>
                </a:solidFill>
              </a:rPr>
              <a:t>MatplotLib</a:t>
            </a:r>
            <a:endParaRPr lang="en-US" sz="1600" dirty="0">
              <a:solidFill>
                <a:schemeClr val="tx1"/>
              </a:solidFill>
            </a:endParaRPr>
          </a:p>
        </p:txBody>
      </p:sp>
      <p:sp>
        <p:nvSpPr>
          <p:cNvPr id="6" name="Text Placeholder 19">
            <a:extLst>
              <a:ext uri="{FF2B5EF4-FFF2-40B4-BE49-F238E27FC236}">
                <a16:creationId xmlns:a16="http://schemas.microsoft.com/office/drawing/2014/main" id="{B1EB0D74-9602-3910-0604-136CA8BE0BE0}"/>
              </a:ext>
            </a:extLst>
          </p:cNvPr>
          <p:cNvSpPr txBox="1">
            <a:spLocks/>
          </p:cNvSpPr>
          <p:nvPr/>
        </p:nvSpPr>
        <p:spPr>
          <a:xfrm>
            <a:off x="4550705" y="1112234"/>
            <a:ext cx="7102056" cy="269690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solidFill>
                  <a:schemeClr val="tx1"/>
                </a:solidFill>
              </a:rPr>
              <a:t>To develop a Machine Learning–based system that predicts whether a student is likely to drop out after Class 12 based on academic performance, preparation patterns, and personal factors. The system aims to support early identification of at-risk students and enable timely academic intervention.</a:t>
            </a:r>
            <a:endParaRPr lang="en-US" sz="1800" dirty="0">
              <a:solidFill>
                <a:schemeClr val="tx1"/>
              </a:solidFill>
              <a:cs typeface="Times New Roman" panose="02020603050405020304" pitchFamily="18" charset="0"/>
            </a:endParaRPr>
          </a:p>
          <a:p>
            <a:pPr algn="just"/>
            <a:r>
              <a:rPr lang="en-US" sz="1800" dirty="0">
                <a:solidFill>
                  <a:schemeClr val="tx1"/>
                </a:solidFill>
              </a:rPr>
              <a:t>The platform is designed as a user-friendly web application where users can input student details and receive a real-time prediction indicating </a:t>
            </a:r>
            <a:r>
              <a:rPr lang="en-US" sz="1800" b="1" dirty="0">
                <a:solidFill>
                  <a:schemeClr val="tx1"/>
                </a:solidFill>
              </a:rPr>
              <a:t>Dropout or Not Dropout</a:t>
            </a:r>
            <a:r>
              <a:rPr lang="en-US" sz="1800" dirty="0">
                <a:solidFill>
                  <a:schemeClr val="tx1"/>
                </a:solidFill>
              </a:rPr>
              <a:t>. The application integrates a trained Machine Learning model with a Flask backend to ensure accurate and reliable predictions.</a:t>
            </a:r>
            <a:endParaRPr lang="en-IN" sz="1600" dirty="0">
              <a:solidFill>
                <a:schemeClr val="tx1"/>
              </a:solidFill>
              <a:cs typeface="Times New Roman" panose="02020603050405020304" pitchFamily="18" charset="0"/>
            </a:endParaRPr>
          </a:p>
        </p:txBody>
      </p:sp>
      <p:sp>
        <p:nvSpPr>
          <p:cNvPr id="7" name="Footer Placeholder 1">
            <a:extLst>
              <a:ext uri="{FF2B5EF4-FFF2-40B4-BE49-F238E27FC236}">
                <a16:creationId xmlns:a16="http://schemas.microsoft.com/office/drawing/2014/main" id="{BCEBD743-ED57-AA1E-A2E7-B0F7624E9040}"/>
              </a:ext>
            </a:extLst>
          </p:cNvPr>
          <p:cNvSpPr txBox="1">
            <a:spLocks/>
          </p:cNvSpPr>
          <p:nvPr/>
        </p:nvSpPr>
        <p:spPr>
          <a:xfrm>
            <a:off x="4420309" y="6264674"/>
            <a:ext cx="3351382" cy="318371"/>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b="0" dirty="0"/>
              <a:t>Internship Review</a:t>
            </a:r>
          </a:p>
        </p:txBody>
      </p:sp>
    </p:spTree>
    <p:extLst>
      <p:ext uri="{BB962C8B-B14F-4D97-AF65-F5344CB8AC3E}">
        <p14:creationId xmlns:p14="http://schemas.microsoft.com/office/powerpoint/2010/main" val="418214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xEl>
                                              <p:pRg st="0" end="0"/>
                                            </p:txEl>
                                          </p:spTgt>
                                        </p:tgtEl>
                                        <p:attrNameLst>
                                          <p:attrName>style.visibility</p:attrName>
                                        </p:attrNameLst>
                                      </p:cBhvr>
                                      <p:to>
                                        <p:strVal val="visible"/>
                                      </p:to>
                                    </p:set>
                                    <p:animEffect transition="in" filter="fade">
                                      <p:cBhvr>
                                        <p:cTn id="13" dur="500"/>
                                        <p:tgtEl>
                                          <p:spTgt spid="37">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
                                            <p:txEl>
                                              <p:pRg st="0" end="0"/>
                                            </p:txEl>
                                          </p:spTgt>
                                        </p:tgtEl>
                                        <p:attrNameLst>
                                          <p:attrName>style.visibility</p:attrName>
                                        </p:attrNameLst>
                                      </p:cBhvr>
                                      <p:to>
                                        <p:strVal val="visible"/>
                                      </p:to>
                                    </p:set>
                                    <p:animEffect transition="in" filter="fade">
                                      <p:cBhvr>
                                        <p:cTn id="16" dur="500"/>
                                        <p:tgtEl>
                                          <p:spTgt spid="4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xEl>
                                              <p:pRg st="1" end="1"/>
                                            </p:txEl>
                                          </p:spTgt>
                                        </p:tgtEl>
                                        <p:attrNameLst>
                                          <p:attrName>style.visibility</p:attrName>
                                        </p:attrNameLst>
                                      </p:cBhvr>
                                      <p:to>
                                        <p:strVal val="visible"/>
                                      </p:to>
                                    </p:set>
                                    <p:animEffect transition="in" filter="fade">
                                      <p:cBhvr>
                                        <p:cTn id="19" dur="500"/>
                                        <p:tgtEl>
                                          <p:spTgt spid="4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3">
                                            <p:txEl>
                                              <p:pRg st="2" end="2"/>
                                            </p:txEl>
                                          </p:spTgt>
                                        </p:tgtEl>
                                        <p:attrNameLst>
                                          <p:attrName>style.visibility</p:attrName>
                                        </p:attrNameLst>
                                      </p:cBhvr>
                                      <p:to>
                                        <p:strVal val="visible"/>
                                      </p:to>
                                    </p:set>
                                    <p:animEffect transition="in" filter="fade">
                                      <p:cBhvr>
                                        <p:cTn id="24" dur="500"/>
                                        <p:tgtEl>
                                          <p:spTgt spid="43">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animEffect transition="in" filter="fade">
                                      <p:cBhvr>
                                        <p:cTn id="27" dur="500"/>
                                        <p:tgtEl>
                                          <p:spTgt spid="35">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4">
                                            <p:txEl>
                                              <p:pRg st="0" end="0"/>
                                            </p:txEl>
                                          </p:spTgt>
                                        </p:tgtEl>
                                        <p:attrNameLst>
                                          <p:attrName>style.visibility</p:attrName>
                                        </p:attrNameLst>
                                      </p:cBhvr>
                                      <p:to>
                                        <p:strVal val="visible"/>
                                      </p:to>
                                    </p:set>
                                    <p:animEffect transition="in" filter="fade">
                                      <p:cBhvr>
                                        <p:cTn id="30" dur="500"/>
                                        <p:tgtEl>
                                          <p:spTgt spid="44">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4">
                                            <p:txEl>
                                              <p:pRg st="1" end="1"/>
                                            </p:txEl>
                                          </p:spTgt>
                                        </p:tgtEl>
                                        <p:attrNameLst>
                                          <p:attrName>style.visibility</p:attrName>
                                        </p:attrNameLst>
                                      </p:cBhvr>
                                      <p:to>
                                        <p:strVal val="visible"/>
                                      </p:to>
                                    </p:set>
                                    <p:animEffect transition="in" filter="fade">
                                      <p:cBhvr>
                                        <p:cTn id="35" dur="500"/>
                                        <p:tgtEl>
                                          <p:spTgt spid="44">
                                            <p:txEl>
                                              <p:pRg st="1" end="1"/>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p:bldP spid="43" grpId="0" build="p"/>
      <p:bldP spid="60" grpId="0"/>
      <p:bldP spid="35" grpId="0" build="p"/>
      <p:bldP spid="44" grpId="0" build="p"/>
      <p:bldP spid="2" grpId="0"/>
      <p:bldP spid="3" grpId="0"/>
      <p:bldP spid="4"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B3219-75BB-28A9-B633-A8CADA291DE9}"/>
              </a:ext>
            </a:extLst>
          </p:cNvPr>
          <p:cNvSpPr>
            <a:spLocks noGrp="1"/>
          </p:cNvSpPr>
          <p:nvPr>
            <p:ph type="title"/>
          </p:nvPr>
        </p:nvSpPr>
        <p:spPr>
          <a:xfrm>
            <a:off x="651102" y="247542"/>
            <a:ext cx="10889796" cy="652072"/>
          </a:xfrm>
        </p:spPr>
        <p:txBody>
          <a:bodyPr/>
          <a:lstStyle/>
          <a:p>
            <a:pPr algn="ctr"/>
            <a:r>
              <a:rPr lang="en-IN" sz="3600" dirty="0"/>
              <a:t>PROJECT MODULES</a:t>
            </a:r>
          </a:p>
        </p:txBody>
      </p:sp>
      <p:sp>
        <p:nvSpPr>
          <p:cNvPr id="4" name="Footer Placeholder 3">
            <a:extLst>
              <a:ext uri="{FF2B5EF4-FFF2-40B4-BE49-F238E27FC236}">
                <a16:creationId xmlns:a16="http://schemas.microsoft.com/office/drawing/2014/main" id="{23F43A04-B728-1AAC-62F7-6A71FBD6A12A}"/>
              </a:ext>
            </a:extLst>
          </p:cNvPr>
          <p:cNvSpPr>
            <a:spLocks noGrp="1"/>
          </p:cNvSpPr>
          <p:nvPr>
            <p:ph type="ftr" sz="quarter" idx="28"/>
          </p:nvPr>
        </p:nvSpPr>
        <p:spPr>
          <a:xfrm>
            <a:off x="4038600" y="6247279"/>
            <a:ext cx="4114800" cy="365125"/>
          </a:xfrm>
        </p:spPr>
        <p:txBody>
          <a:bodyPr/>
          <a:lstStyle/>
          <a:p>
            <a:pPr algn="ctr"/>
            <a:r>
              <a:rPr lang="en-US"/>
              <a:t>Internship Review</a:t>
            </a:r>
            <a:endParaRPr lang="en-US" dirty="0"/>
          </a:p>
        </p:txBody>
      </p:sp>
      <p:sp>
        <p:nvSpPr>
          <p:cNvPr id="5" name="Slide Number Placeholder 4">
            <a:extLst>
              <a:ext uri="{FF2B5EF4-FFF2-40B4-BE49-F238E27FC236}">
                <a16:creationId xmlns:a16="http://schemas.microsoft.com/office/drawing/2014/main" id="{DE93EF2C-2941-B66C-7BA2-6CCE61FD5AA4}"/>
              </a:ext>
            </a:extLst>
          </p:cNvPr>
          <p:cNvSpPr>
            <a:spLocks noGrp="1"/>
          </p:cNvSpPr>
          <p:nvPr>
            <p:ph type="sldNum" sz="quarter" idx="29"/>
          </p:nvPr>
        </p:nvSpPr>
        <p:spPr/>
        <p:txBody>
          <a:bodyPr/>
          <a:lstStyle/>
          <a:p>
            <a:r>
              <a:rPr lang="en-US" altLang="zh-CN" dirty="0"/>
              <a:t>3</a:t>
            </a:r>
          </a:p>
        </p:txBody>
      </p:sp>
      <p:sp>
        <p:nvSpPr>
          <p:cNvPr id="9" name="TextBox 8">
            <a:extLst>
              <a:ext uri="{FF2B5EF4-FFF2-40B4-BE49-F238E27FC236}">
                <a16:creationId xmlns:a16="http://schemas.microsoft.com/office/drawing/2014/main" id="{770627F6-9FD1-84FD-DD8A-DD1B30A99D07}"/>
              </a:ext>
            </a:extLst>
          </p:cNvPr>
          <p:cNvSpPr txBox="1"/>
          <p:nvPr/>
        </p:nvSpPr>
        <p:spPr>
          <a:xfrm>
            <a:off x="548798" y="899614"/>
            <a:ext cx="10889796" cy="5866350"/>
          </a:xfrm>
          <a:prstGeom prst="rect">
            <a:avLst/>
          </a:prstGeom>
          <a:noFill/>
        </p:spPr>
        <p:txBody>
          <a:bodyPr wrap="square">
            <a:spAutoFit/>
          </a:bodyPr>
          <a:lstStyle/>
          <a:p>
            <a:pPr indent="228600" algn="just">
              <a:lnSpc>
                <a:spcPct val="150000"/>
              </a:lnSpc>
            </a:pPr>
            <a:r>
              <a:rPr lang="en-US" b="1" dirty="0"/>
              <a:t>User Interface Module: </a:t>
            </a:r>
          </a:p>
          <a:p>
            <a:pPr marL="179388" indent="49213" algn="just">
              <a:lnSpc>
                <a:spcPct val="150000"/>
              </a:lnSpc>
            </a:pPr>
            <a:r>
              <a:rPr lang="en-US" dirty="0"/>
              <a:t>	The User Interface (UI) serves as the interaction point between the user and the system as shown Fig 1. It is  designed to be simple and intuitive so that even users without technical knowledge can easily use the application.     </a:t>
            </a:r>
          </a:p>
          <a:p>
            <a:pPr marL="179388" indent="49213" algn="just">
              <a:lnSpc>
                <a:spcPct val="150000"/>
              </a:lnSpc>
            </a:pPr>
            <a:r>
              <a:rPr lang="en-US" dirty="0"/>
              <a:t>• Provides input fields for entering student-related data </a:t>
            </a:r>
          </a:p>
          <a:p>
            <a:pPr indent="228600" algn="just">
              <a:lnSpc>
                <a:spcPct val="150000"/>
              </a:lnSpc>
            </a:pPr>
            <a:r>
              <a:rPr lang="en-US" dirty="0"/>
              <a:t>• Ensures proper validation of user inputs </a:t>
            </a:r>
          </a:p>
          <a:p>
            <a:pPr indent="228600" algn="just">
              <a:lnSpc>
                <a:spcPct val="150000"/>
              </a:lnSpc>
            </a:pPr>
            <a:r>
              <a:rPr lang="en-US" dirty="0"/>
              <a:t>• Displays prediction results </a:t>
            </a:r>
            <a:r>
              <a:rPr lang="en-US" dirty="0" err="1"/>
              <a:t>clearly</a:t>
            </a:r>
            <a:r>
              <a:rPr lang="en-US" sz="1800" dirty="0" err="1">
                <a:effectLst/>
                <a:ea typeface="Times New Roman" panose="02020603050405020304" pitchFamily="18" charset="0"/>
              </a:rPr>
              <a:t>products</a:t>
            </a:r>
            <a:r>
              <a:rPr lang="en-US" sz="1800" dirty="0">
                <a:effectLst/>
                <a:ea typeface="Times New Roman" panose="02020603050405020304" pitchFamily="18" charset="0"/>
              </a:rPr>
              <a:t> from the catalog</a:t>
            </a:r>
          </a:p>
          <a:p>
            <a:pPr indent="228600" algn="just">
              <a:lnSpc>
                <a:spcPct val="150000"/>
              </a:lnSpc>
            </a:pPr>
            <a:r>
              <a:rPr lang="en-US" b="1" dirty="0"/>
              <a:t>Data Input Module </a:t>
            </a:r>
          </a:p>
          <a:p>
            <a:pPr marL="268288" indent="-39688" algn="just">
              <a:lnSpc>
                <a:spcPct val="150000"/>
              </a:lnSpc>
            </a:pPr>
            <a:r>
              <a:rPr lang="en-US" dirty="0"/>
              <a:t>		This module is responsible for collecting student data required for prediction as shown in Fig 2. The inputs include academic performance indicators and preparation-related parameters. </a:t>
            </a:r>
          </a:p>
          <a:p>
            <a:pPr indent="228600" algn="just">
              <a:lnSpc>
                <a:spcPct val="150000"/>
              </a:lnSpc>
            </a:pPr>
            <a:r>
              <a:rPr lang="en-US" dirty="0"/>
              <a:t>• Accepts numerical and categorical inputs </a:t>
            </a:r>
          </a:p>
          <a:p>
            <a:pPr indent="228600" algn="just">
              <a:lnSpc>
                <a:spcPct val="150000"/>
              </a:lnSpc>
            </a:pPr>
            <a:r>
              <a:rPr lang="en-US" dirty="0"/>
              <a:t>• Performs basic validation before sending data to the backend </a:t>
            </a:r>
          </a:p>
          <a:p>
            <a:pPr indent="228600" algn="just">
              <a:lnSpc>
                <a:spcPct val="150000"/>
              </a:lnSpc>
            </a:pPr>
            <a:r>
              <a:rPr lang="en-US" dirty="0"/>
              <a:t>• Ensures consistency with the training dataset</a:t>
            </a:r>
            <a:endParaRPr lang="en-US" sz="1800" dirty="0">
              <a:effectLst/>
              <a:ea typeface="Times New Roman" panose="02020603050405020304" pitchFamily="18" charset="0"/>
            </a:endParaRPr>
          </a:p>
          <a:p>
            <a:pPr indent="228600" algn="just">
              <a:lnSpc>
                <a:spcPct val="150000"/>
              </a:lnSpc>
            </a:pPr>
            <a:endParaRPr lang="en-IN" dirty="0"/>
          </a:p>
        </p:txBody>
      </p:sp>
    </p:spTree>
    <p:extLst>
      <p:ext uri="{BB962C8B-B14F-4D97-AF65-F5344CB8AC3E}">
        <p14:creationId xmlns:p14="http://schemas.microsoft.com/office/powerpoint/2010/main" val="128380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0AC2-34B1-FB07-15C5-A69920908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1B40F-C326-0DB8-E8FF-8FFB35989AD0}"/>
              </a:ext>
            </a:extLst>
          </p:cNvPr>
          <p:cNvSpPr>
            <a:spLocks noGrp="1"/>
          </p:cNvSpPr>
          <p:nvPr>
            <p:ph type="title"/>
          </p:nvPr>
        </p:nvSpPr>
        <p:spPr>
          <a:xfrm>
            <a:off x="651102" y="247542"/>
            <a:ext cx="10889796" cy="652072"/>
          </a:xfrm>
        </p:spPr>
        <p:txBody>
          <a:bodyPr/>
          <a:lstStyle/>
          <a:p>
            <a:pPr algn="ctr"/>
            <a:r>
              <a:rPr lang="en-IN" sz="3600" dirty="0"/>
              <a:t>PROJECT MODULES</a:t>
            </a:r>
          </a:p>
        </p:txBody>
      </p:sp>
      <p:sp>
        <p:nvSpPr>
          <p:cNvPr id="4" name="Footer Placeholder 3">
            <a:extLst>
              <a:ext uri="{FF2B5EF4-FFF2-40B4-BE49-F238E27FC236}">
                <a16:creationId xmlns:a16="http://schemas.microsoft.com/office/drawing/2014/main" id="{0B4F5D84-8F66-A728-A297-0C40267F9895}"/>
              </a:ext>
            </a:extLst>
          </p:cNvPr>
          <p:cNvSpPr>
            <a:spLocks noGrp="1"/>
          </p:cNvSpPr>
          <p:nvPr>
            <p:ph type="ftr" sz="quarter" idx="28"/>
          </p:nvPr>
        </p:nvSpPr>
        <p:spPr>
          <a:xfrm>
            <a:off x="4038600" y="6247279"/>
            <a:ext cx="4114800" cy="365125"/>
          </a:xfrm>
        </p:spPr>
        <p:txBody>
          <a:bodyPr/>
          <a:lstStyle/>
          <a:p>
            <a:pPr algn="ctr"/>
            <a:r>
              <a:rPr lang="en-US"/>
              <a:t>Internship Review</a:t>
            </a:r>
            <a:endParaRPr lang="en-US" dirty="0"/>
          </a:p>
        </p:txBody>
      </p:sp>
      <p:sp>
        <p:nvSpPr>
          <p:cNvPr id="5" name="Slide Number Placeholder 4">
            <a:extLst>
              <a:ext uri="{FF2B5EF4-FFF2-40B4-BE49-F238E27FC236}">
                <a16:creationId xmlns:a16="http://schemas.microsoft.com/office/drawing/2014/main" id="{973886E1-F136-B2BD-FD17-7D1E55BB6C73}"/>
              </a:ext>
            </a:extLst>
          </p:cNvPr>
          <p:cNvSpPr>
            <a:spLocks noGrp="1"/>
          </p:cNvSpPr>
          <p:nvPr>
            <p:ph type="sldNum" sz="quarter" idx="29"/>
          </p:nvPr>
        </p:nvSpPr>
        <p:spPr/>
        <p:txBody>
          <a:bodyPr/>
          <a:lstStyle/>
          <a:p>
            <a:r>
              <a:rPr lang="en-US" altLang="zh-CN" dirty="0"/>
              <a:t>4</a:t>
            </a:r>
          </a:p>
        </p:txBody>
      </p:sp>
      <p:sp>
        <p:nvSpPr>
          <p:cNvPr id="9" name="TextBox 8">
            <a:extLst>
              <a:ext uri="{FF2B5EF4-FFF2-40B4-BE49-F238E27FC236}">
                <a16:creationId xmlns:a16="http://schemas.microsoft.com/office/drawing/2014/main" id="{04A792D6-3581-3C6B-2173-86B9F159C036}"/>
              </a:ext>
            </a:extLst>
          </p:cNvPr>
          <p:cNvSpPr txBox="1"/>
          <p:nvPr/>
        </p:nvSpPr>
        <p:spPr>
          <a:xfrm>
            <a:off x="548798" y="909774"/>
            <a:ext cx="10889796" cy="5450851"/>
          </a:xfrm>
          <a:prstGeom prst="rect">
            <a:avLst/>
          </a:prstGeom>
          <a:noFill/>
        </p:spPr>
        <p:txBody>
          <a:bodyPr wrap="square">
            <a:spAutoFit/>
          </a:bodyPr>
          <a:lstStyle/>
          <a:p>
            <a:pPr indent="228600" algn="just">
              <a:lnSpc>
                <a:spcPct val="150000"/>
              </a:lnSpc>
            </a:pPr>
            <a:r>
              <a:rPr lang="en-US" b="1" dirty="0"/>
              <a:t>Data Preprocessing Module </a:t>
            </a:r>
          </a:p>
          <a:p>
            <a:pPr marL="179388" indent="49213" algn="just">
              <a:lnSpc>
                <a:spcPct val="150000"/>
              </a:lnSpc>
            </a:pPr>
            <a:r>
              <a:rPr lang="en-US" dirty="0"/>
              <a:t>	The dataset used for the JEE Dropout Prediction System is a CSV as shown in Fig 3 file containing academic and preparation-related attributes such as JEE scores, mock test scores, school board, coaching type, study hours, and the target variable dropout. The dataset was examined to identify missing values, inconsistencies, and noise. Categorical features were encoded into numerical form, missing and inconsistent values were handled, and extreme values were treated during Exploratory Data Analysis (EDA). Numerical features were scaled to ensure uniform contribution during model training, improving overall model reliability</a:t>
            </a:r>
          </a:p>
          <a:p>
            <a:pPr indent="228600" algn="just">
              <a:lnSpc>
                <a:spcPct val="150000"/>
              </a:lnSpc>
            </a:pPr>
            <a:r>
              <a:rPr lang="en-US" b="1" dirty="0"/>
              <a:t>Machine Learning Model Module </a:t>
            </a:r>
          </a:p>
          <a:p>
            <a:pPr marL="179388" indent="49213" algn="just">
              <a:lnSpc>
                <a:spcPct val="150000"/>
              </a:lnSpc>
            </a:pPr>
            <a:r>
              <a:rPr lang="en-US" b="1" dirty="0"/>
              <a:t>	</a:t>
            </a:r>
            <a:r>
              <a:rPr lang="en-US" dirty="0"/>
              <a:t>The Machine Learning Model Module is the core component of the JEE Dropout Prediction System, responsible for analyzing processed student data and generating predictions. In this module, multiple classical Machine Learning algorithms such as Logistic Regression, Decision Tree, Random Forest, K-Nearest Neighbors (KNN), Support Vector Machine (SVM) were implemented. Each model was trained using the preprocessed dataset and evaluated using appropriate performance metrics</a:t>
            </a:r>
            <a:endParaRPr lang="en-IN" dirty="0"/>
          </a:p>
        </p:txBody>
      </p:sp>
    </p:spTree>
    <p:extLst>
      <p:ext uri="{BB962C8B-B14F-4D97-AF65-F5344CB8AC3E}">
        <p14:creationId xmlns:p14="http://schemas.microsoft.com/office/powerpoint/2010/main" val="57690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65005-A344-5B3F-93C6-14C92E9C0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5B518-0B52-8E6A-65ED-205E0D37128C}"/>
              </a:ext>
            </a:extLst>
          </p:cNvPr>
          <p:cNvSpPr>
            <a:spLocks noGrp="1"/>
          </p:cNvSpPr>
          <p:nvPr>
            <p:ph type="title"/>
          </p:nvPr>
        </p:nvSpPr>
        <p:spPr>
          <a:xfrm>
            <a:off x="651102" y="247542"/>
            <a:ext cx="10889796" cy="652072"/>
          </a:xfrm>
        </p:spPr>
        <p:txBody>
          <a:bodyPr/>
          <a:lstStyle/>
          <a:p>
            <a:pPr algn="ctr"/>
            <a:r>
              <a:rPr lang="en-IN" sz="3600" dirty="0"/>
              <a:t>PROJECT MODULES</a:t>
            </a:r>
          </a:p>
        </p:txBody>
      </p:sp>
      <p:sp>
        <p:nvSpPr>
          <p:cNvPr id="4" name="Footer Placeholder 3">
            <a:extLst>
              <a:ext uri="{FF2B5EF4-FFF2-40B4-BE49-F238E27FC236}">
                <a16:creationId xmlns:a16="http://schemas.microsoft.com/office/drawing/2014/main" id="{92258EFD-DF97-82CA-4973-B011AB1148A5}"/>
              </a:ext>
            </a:extLst>
          </p:cNvPr>
          <p:cNvSpPr>
            <a:spLocks noGrp="1"/>
          </p:cNvSpPr>
          <p:nvPr>
            <p:ph type="ftr" sz="quarter" idx="28"/>
          </p:nvPr>
        </p:nvSpPr>
        <p:spPr>
          <a:xfrm>
            <a:off x="4038600" y="6247279"/>
            <a:ext cx="4114800" cy="365125"/>
          </a:xfrm>
        </p:spPr>
        <p:txBody>
          <a:bodyPr/>
          <a:lstStyle/>
          <a:p>
            <a:pPr algn="ctr"/>
            <a:r>
              <a:rPr lang="en-US"/>
              <a:t>Internship Review</a:t>
            </a:r>
            <a:endParaRPr lang="en-US" dirty="0"/>
          </a:p>
        </p:txBody>
      </p:sp>
      <p:sp>
        <p:nvSpPr>
          <p:cNvPr id="5" name="Slide Number Placeholder 4">
            <a:extLst>
              <a:ext uri="{FF2B5EF4-FFF2-40B4-BE49-F238E27FC236}">
                <a16:creationId xmlns:a16="http://schemas.microsoft.com/office/drawing/2014/main" id="{4F41D898-1FE3-5496-0FD1-E63E1CF412A4}"/>
              </a:ext>
            </a:extLst>
          </p:cNvPr>
          <p:cNvSpPr>
            <a:spLocks noGrp="1"/>
          </p:cNvSpPr>
          <p:nvPr>
            <p:ph type="sldNum" sz="quarter" idx="29"/>
          </p:nvPr>
        </p:nvSpPr>
        <p:spPr>
          <a:xfrm>
            <a:off x="8610600" y="6366510"/>
            <a:ext cx="2743200" cy="365125"/>
          </a:xfrm>
        </p:spPr>
        <p:txBody>
          <a:bodyPr/>
          <a:lstStyle/>
          <a:p>
            <a:r>
              <a:rPr lang="en-US" altLang="zh-CN" dirty="0"/>
              <a:t>5</a:t>
            </a:r>
          </a:p>
        </p:txBody>
      </p:sp>
      <p:sp>
        <p:nvSpPr>
          <p:cNvPr id="9" name="TextBox 8">
            <a:extLst>
              <a:ext uri="{FF2B5EF4-FFF2-40B4-BE49-F238E27FC236}">
                <a16:creationId xmlns:a16="http://schemas.microsoft.com/office/drawing/2014/main" id="{19797F16-B523-13B9-846D-A78187E044AB}"/>
              </a:ext>
            </a:extLst>
          </p:cNvPr>
          <p:cNvSpPr txBox="1"/>
          <p:nvPr/>
        </p:nvSpPr>
        <p:spPr>
          <a:xfrm>
            <a:off x="548798" y="909774"/>
            <a:ext cx="10889796" cy="5035353"/>
          </a:xfrm>
          <a:prstGeom prst="rect">
            <a:avLst/>
          </a:prstGeom>
          <a:noFill/>
        </p:spPr>
        <p:txBody>
          <a:bodyPr wrap="square">
            <a:spAutoFit/>
          </a:bodyPr>
          <a:lstStyle/>
          <a:p>
            <a:pPr indent="228600" algn="just">
              <a:lnSpc>
                <a:spcPct val="150000"/>
              </a:lnSpc>
            </a:pPr>
            <a:r>
              <a:rPr lang="en-US" b="1" dirty="0"/>
              <a:t>Model Evaluation Module </a:t>
            </a:r>
          </a:p>
          <a:p>
            <a:pPr marL="268288" indent="-39688" algn="just">
              <a:lnSpc>
                <a:spcPct val="150000"/>
              </a:lnSpc>
            </a:pPr>
            <a:r>
              <a:rPr lang="en-US" dirty="0"/>
              <a:t>		The Model Evaluation Module was used to compare the performance of different Machine Learning algorithms implemented in the JEE Dropout Prediction System. Models such as Logistic Regression, Decision Tree, Random Forest, SVM, and KNN were evaluated using Accuracy, Precision, Recall, and F1-score to ensure reliable classification. From the performance comparison as shown in Fig 4, Decision Tree and Random Forest models showed the best results across all evaluation metrics. Logistic Regression exhibited lower recall and F1-score, while SVM and KNN produced moderate performance . The Decision Tree model was selected for deployment due to its high accuracy and consistent results.</a:t>
            </a:r>
          </a:p>
          <a:p>
            <a:pPr indent="228600" algn="just">
              <a:lnSpc>
                <a:spcPct val="150000"/>
              </a:lnSpc>
            </a:pPr>
            <a:r>
              <a:rPr lang="en-US" b="1" dirty="0"/>
              <a:t>Backend (Flask) Module </a:t>
            </a:r>
          </a:p>
          <a:p>
            <a:pPr marL="268288" indent="-39688" algn="just">
              <a:lnSpc>
                <a:spcPct val="150000"/>
              </a:lnSpc>
            </a:pPr>
            <a:r>
              <a:rPr lang="en-US" dirty="0"/>
              <a:t>		The Backend Module of the JEE Dropout Prediction System is implemented using the Flask framework, which acts as a bridge between the user interface and the Machine Learning model. It is responsible for handling user requests, processing input data, and generating prediction results</a:t>
            </a:r>
            <a:endParaRPr lang="en-IN" dirty="0"/>
          </a:p>
        </p:txBody>
      </p:sp>
    </p:spTree>
    <p:extLst>
      <p:ext uri="{BB962C8B-B14F-4D97-AF65-F5344CB8AC3E}">
        <p14:creationId xmlns:p14="http://schemas.microsoft.com/office/powerpoint/2010/main" val="296068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435E-E106-BD30-CBE2-7E2A1B8A7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6AF7A-FC9F-ED3E-6315-EF8B7B8D8896}"/>
              </a:ext>
            </a:extLst>
          </p:cNvPr>
          <p:cNvSpPr>
            <a:spLocks noGrp="1"/>
          </p:cNvSpPr>
          <p:nvPr>
            <p:ph type="title"/>
          </p:nvPr>
        </p:nvSpPr>
        <p:spPr>
          <a:xfrm>
            <a:off x="651102" y="247542"/>
            <a:ext cx="10889796" cy="652072"/>
          </a:xfrm>
        </p:spPr>
        <p:txBody>
          <a:bodyPr/>
          <a:lstStyle/>
          <a:p>
            <a:pPr algn="ctr"/>
            <a:r>
              <a:rPr lang="en-IN" sz="3600" dirty="0"/>
              <a:t>PROJECT MODULES</a:t>
            </a:r>
          </a:p>
        </p:txBody>
      </p:sp>
      <p:sp>
        <p:nvSpPr>
          <p:cNvPr id="4" name="Footer Placeholder 3">
            <a:extLst>
              <a:ext uri="{FF2B5EF4-FFF2-40B4-BE49-F238E27FC236}">
                <a16:creationId xmlns:a16="http://schemas.microsoft.com/office/drawing/2014/main" id="{2F6F8A13-3705-BA99-972B-433C5C937AA1}"/>
              </a:ext>
            </a:extLst>
          </p:cNvPr>
          <p:cNvSpPr>
            <a:spLocks noGrp="1"/>
          </p:cNvSpPr>
          <p:nvPr>
            <p:ph type="ftr" sz="quarter" idx="28"/>
          </p:nvPr>
        </p:nvSpPr>
        <p:spPr>
          <a:xfrm>
            <a:off x="4038600" y="6247279"/>
            <a:ext cx="4114800" cy="365125"/>
          </a:xfrm>
        </p:spPr>
        <p:txBody>
          <a:bodyPr/>
          <a:lstStyle/>
          <a:p>
            <a:pPr algn="ctr"/>
            <a:r>
              <a:rPr lang="en-US"/>
              <a:t>Internship Review</a:t>
            </a:r>
            <a:endParaRPr lang="en-US" dirty="0"/>
          </a:p>
        </p:txBody>
      </p:sp>
      <p:sp>
        <p:nvSpPr>
          <p:cNvPr id="5" name="Slide Number Placeholder 4">
            <a:extLst>
              <a:ext uri="{FF2B5EF4-FFF2-40B4-BE49-F238E27FC236}">
                <a16:creationId xmlns:a16="http://schemas.microsoft.com/office/drawing/2014/main" id="{5EB73B9B-A440-6564-7C87-17FC473F6219}"/>
              </a:ext>
            </a:extLst>
          </p:cNvPr>
          <p:cNvSpPr>
            <a:spLocks noGrp="1"/>
          </p:cNvSpPr>
          <p:nvPr>
            <p:ph type="sldNum" sz="quarter" idx="29"/>
          </p:nvPr>
        </p:nvSpPr>
        <p:spPr/>
        <p:txBody>
          <a:bodyPr/>
          <a:lstStyle/>
          <a:p>
            <a:r>
              <a:rPr lang="en-US" altLang="zh-CN" dirty="0"/>
              <a:t>6</a:t>
            </a:r>
          </a:p>
        </p:txBody>
      </p:sp>
      <p:sp>
        <p:nvSpPr>
          <p:cNvPr id="9" name="TextBox 8">
            <a:extLst>
              <a:ext uri="{FF2B5EF4-FFF2-40B4-BE49-F238E27FC236}">
                <a16:creationId xmlns:a16="http://schemas.microsoft.com/office/drawing/2014/main" id="{FE04ADC2-B1C0-945B-DBA0-52557FE5C2A3}"/>
              </a:ext>
            </a:extLst>
          </p:cNvPr>
          <p:cNvSpPr txBox="1"/>
          <p:nvPr/>
        </p:nvSpPr>
        <p:spPr>
          <a:xfrm>
            <a:off x="548798" y="899614"/>
            <a:ext cx="10889796" cy="4204356"/>
          </a:xfrm>
          <a:prstGeom prst="rect">
            <a:avLst/>
          </a:prstGeom>
          <a:noFill/>
        </p:spPr>
        <p:txBody>
          <a:bodyPr wrap="square">
            <a:spAutoFit/>
          </a:bodyPr>
          <a:lstStyle/>
          <a:p>
            <a:pPr indent="228600" algn="just">
              <a:lnSpc>
                <a:spcPct val="150000"/>
              </a:lnSpc>
            </a:pPr>
            <a:r>
              <a:rPr lang="en-US" b="1" dirty="0"/>
              <a:t>Model Serialization Module</a:t>
            </a:r>
          </a:p>
          <a:p>
            <a:pPr marL="268288" indent="-39688" algn="just">
              <a:lnSpc>
                <a:spcPct val="150000"/>
              </a:lnSpc>
            </a:pPr>
            <a:r>
              <a:rPr lang="en-US" dirty="0"/>
              <a:t> 	The Model Serialization Module is used to store the trained Machine Learning model so that it can be reused without retraining. After the model was trained and evaluated, it was saved using the </a:t>
            </a:r>
            <a:r>
              <a:rPr lang="en-US" dirty="0" err="1"/>
              <a:t>joblib</a:t>
            </a:r>
            <a:r>
              <a:rPr lang="en-US" dirty="0"/>
              <a:t> library, which allows efficient storage of Machine Learning objects</a:t>
            </a:r>
          </a:p>
          <a:p>
            <a:pPr marL="268288" indent="-39688" algn="just">
              <a:lnSpc>
                <a:spcPct val="150000"/>
              </a:lnSpc>
            </a:pPr>
            <a:endParaRPr lang="en-US" dirty="0"/>
          </a:p>
          <a:p>
            <a:pPr indent="228600" algn="just">
              <a:lnSpc>
                <a:spcPct val="150000"/>
              </a:lnSpc>
            </a:pPr>
            <a:r>
              <a:rPr lang="en-US" b="1" dirty="0"/>
              <a:t>Result Display Module </a:t>
            </a:r>
          </a:p>
          <a:p>
            <a:pPr marL="179388" indent="228600" algn="just">
              <a:lnSpc>
                <a:spcPct val="150000"/>
              </a:lnSpc>
            </a:pPr>
            <a:r>
              <a:rPr lang="en-US" dirty="0"/>
              <a:t>The Result Display Module is responsible for presenting the prediction output to the user in a clear and understandable manner. After the Machine Learning model processes the input data, the prediction result is sent from the backend to the frontend for display. The system displays whether the student is predicted to “Dropout” or “Not Dropout” based on the model’s output. </a:t>
            </a:r>
            <a:endParaRPr lang="en-IN" dirty="0"/>
          </a:p>
        </p:txBody>
      </p:sp>
    </p:spTree>
    <p:extLst>
      <p:ext uri="{BB962C8B-B14F-4D97-AF65-F5344CB8AC3E}">
        <p14:creationId xmlns:p14="http://schemas.microsoft.com/office/powerpoint/2010/main" val="408667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AC22-AF3D-94DD-1B57-4ADDE2019B34}"/>
              </a:ext>
            </a:extLst>
          </p:cNvPr>
          <p:cNvSpPr>
            <a:spLocks noGrp="1"/>
          </p:cNvSpPr>
          <p:nvPr>
            <p:ph type="title"/>
          </p:nvPr>
        </p:nvSpPr>
        <p:spPr>
          <a:xfrm>
            <a:off x="651101" y="489034"/>
            <a:ext cx="10889796" cy="572694"/>
          </a:xfrm>
        </p:spPr>
        <p:txBody>
          <a:bodyPr>
            <a:normAutofit fontScale="90000"/>
          </a:bodyPr>
          <a:lstStyle/>
          <a:p>
            <a:pPr algn="ctr"/>
            <a:r>
              <a:rPr lang="en-IN" sz="3600" dirty="0"/>
              <a:t>PROJECT SCREENSHOT</a:t>
            </a:r>
          </a:p>
        </p:txBody>
      </p:sp>
      <p:sp>
        <p:nvSpPr>
          <p:cNvPr id="4" name="Footer Placeholder 3">
            <a:extLst>
              <a:ext uri="{FF2B5EF4-FFF2-40B4-BE49-F238E27FC236}">
                <a16:creationId xmlns:a16="http://schemas.microsoft.com/office/drawing/2014/main" id="{31EC7003-780C-5061-26BA-5849859B981F}"/>
              </a:ext>
            </a:extLst>
          </p:cNvPr>
          <p:cNvSpPr>
            <a:spLocks noGrp="1"/>
          </p:cNvSpPr>
          <p:nvPr>
            <p:ph type="ftr" sz="quarter" idx="28"/>
          </p:nvPr>
        </p:nvSpPr>
        <p:spPr>
          <a:xfrm>
            <a:off x="4038598" y="6186403"/>
            <a:ext cx="4114800" cy="365125"/>
          </a:xfrm>
        </p:spPr>
        <p:txBody>
          <a:bodyPr/>
          <a:lstStyle/>
          <a:p>
            <a:pPr algn="ctr"/>
            <a:r>
              <a:rPr lang="en-US"/>
              <a:t>Internship Review</a:t>
            </a:r>
            <a:endParaRPr lang="en-US" dirty="0"/>
          </a:p>
        </p:txBody>
      </p:sp>
      <p:sp>
        <p:nvSpPr>
          <p:cNvPr id="5" name="Slide Number Placeholder 4">
            <a:extLst>
              <a:ext uri="{FF2B5EF4-FFF2-40B4-BE49-F238E27FC236}">
                <a16:creationId xmlns:a16="http://schemas.microsoft.com/office/drawing/2014/main" id="{81CFE25B-5EB9-21F5-80B2-F1FB9509024B}"/>
              </a:ext>
            </a:extLst>
          </p:cNvPr>
          <p:cNvSpPr>
            <a:spLocks noGrp="1"/>
          </p:cNvSpPr>
          <p:nvPr>
            <p:ph type="sldNum" sz="quarter" idx="29"/>
          </p:nvPr>
        </p:nvSpPr>
        <p:spPr/>
        <p:txBody>
          <a:bodyPr/>
          <a:lstStyle/>
          <a:p>
            <a:r>
              <a:rPr lang="en-US" altLang="zh-CN" dirty="0"/>
              <a:t>7</a:t>
            </a:r>
          </a:p>
        </p:txBody>
      </p:sp>
      <p:sp>
        <p:nvSpPr>
          <p:cNvPr id="8" name="Text Placeholder 42">
            <a:extLst>
              <a:ext uri="{FF2B5EF4-FFF2-40B4-BE49-F238E27FC236}">
                <a16:creationId xmlns:a16="http://schemas.microsoft.com/office/drawing/2014/main" id="{A8105808-C1E1-E7A3-B396-52DED40EB7C6}"/>
              </a:ext>
            </a:extLst>
          </p:cNvPr>
          <p:cNvSpPr txBox="1">
            <a:spLocks/>
          </p:cNvSpPr>
          <p:nvPr/>
        </p:nvSpPr>
        <p:spPr>
          <a:xfrm>
            <a:off x="4769225" y="5613709"/>
            <a:ext cx="2653545" cy="365125"/>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Fig. 1 User Interface</a:t>
            </a:r>
          </a:p>
        </p:txBody>
      </p:sp>
      <p:pic>
        <p:nvPicPr>
          <p:cNvPr id="9" name="Picture 8">
            <a:extLst>
              <a:ext uri="{FF2B5EF4-FFF2-40B4-BE49-F238E27FC236}">
                <a16:creationId xmlns:a16="http://schemas.microsoft.com/office/drawing/2014/main" id="{73C19AC9-5072-02F5-FAA9-4FFCF86B4D0E}"/>
              </a:ext>
            </a:extLst>
          </p:cNvPr>
          <p:cNvPicPr>
            <a:picLocks noChangeAspect="1"/>
          </p:cNvPicPr>
          <p:nvPr/>
        </p:nvPicPr>
        <p:blipFill>
          <a:blip r:embed="rId2"/>
          <a:stretch>
            <a:fillRect/>
          </a:stretch>
        </p:blipFill>
        <p:spPr>
          <a:xfrm>
            <a:off x="1046480" y="1452880"/>
            <a:ext cx="10088880" cy="4043680"/>
          </a:xfrm>
          <a:prstGeom prst="rect">
            <a:avLst/>
          </a:prstGeom>
        </p:spPr>
      </p:pic>
    </p:spTree>
    <p:extLst>
      <p:ext uri="{BB962C8B-B14F-4D97-AF65-F5344CB8AC3E}">
        <p14:creationId xmlns:p14="http://schemas.microsoft.com/office/powerpoint/2010/main" val="365479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AC22-AF3D-94DD-1B57-4ADDE2019B34}"/>
              </a:ext>
            </a:extLst>
          </p:cNvPr>
          <p:cNvSpPr>
            <a:spLocks noGrp="1"/>
          </p:cNvSpPr>
          <p:nvPr>
            <p:ph type="title"/>
          </p:nvPr>
        </p:nvSpPr>
        <p:spPr>
          <a:xfrm>
            <a:off x="651101" y="489034"/>
            <a:ext cx="10889796" cy="572694"/>
          </a:xfrm>
        </p:spPr>
        <p:txBody>
          <a:bodyPr>
            <a:normAutofit fontScale="90000"/>
          </a:bodyPr>
          <a:lstStyle/>
          <a:p>
            <a:pPr algn="ctr"/>
            <a:r>
              <a:rPr lang="en-IN" sz="3600" dirty="0"/>
              <a:t>PROJECT SCREENSHOT</a:t>
            </a:r>
          </a:p>
        </p:txBody>
      </p:sp>
      <p:sp>
        <p:nvSpPr>
          <p:cNvPr id="4" name="Footer Placeholder 3">
            <a:extLst>
              <a:ext uri="{FF2B5EF4-FFF2-40B4-BE49-F238E27FC236}">
                <a16:creationId xmlns:a16="http://schemas.microsoft.com/office/drawing/2014/main" id="{31EC7003-780C-5061-26BA-5849859B981F}"/>
              </a:ext>
            </a:extLst>
          </p:cNvPr>
          <p:cNvSpPr>
            <a:spLocks noGrp="1"/>
          </p:cNvSpPr>
          <p:nvPr>
            <p:ph type="ftr" sz="quarter" idx="28"/>
          </p:nvPr>
        </p:nvSpPr>
        <p:spPr>
          <a:xfrm>
            <a:off x="4038599" y="6217920"/>
            <a:ext cx="4114800" cy="365125"/>
          </a:xfrm>
        </p:spPr>
        <p:txBody>
          <a:bodyPr/>
          <a:lstStyle/>
          <a:p>
            <a:pPr algn="ctr"/>
            <a:r>
              <a:rPr lang="en-US" dirty="0"/>
              <a:t>Internship Review</a:t>
            </a:r>
          </a:p>
        </p:txBody>
      </p:sp>
      <p:sp>
        <p:nvSpPr>
          <p:cNvPr id="5" name="Slide Number Placeholder 4">
            <a:extLst>
              <a:ext uri="{FF2B5EF4-FFF2-40B4-BE49-F238E27FC236}">
                <a16:creationId xmlns:a16="http://schemas.microsoft.com/office/drawing/2014/main" id="{81CFE25B-5EB9-21F5-80B2-F1FB9509024B}"/>
              </a:ext>
            </a:extLst>
          </p:cNvPr>
          <p:cNvSpPr>
            <a:spLocks noGrp="1"/>
          </p:cNvSpPr>
          <p:nvPr>
            <p:ph type="sldNum" sz="quarter" idx="29"/>
          </p:nvPr>
        </p:nvSpPr>
        <p:spPr/>
        <p:txBody>
          <a:bodyPr/>
          <a:lstStyle/>
          <a:p>
            <a:r>
              <a:rPr lang="en-US" altLang="zh-CN" dirty="0"/>
              <a:t>5</a:t>
            </a:r>
          </a:p>
        </p:txBody>
      </p:sp>
      <p:sp>
        <p:nvSpPr>
          <p:cNvPr id="8" name="Text Placeholder 42">
            <a:extLst>
              <a:ext uri="{FF2B5EF4-FFF2-40B4-BE49-F238E27FC236}">
                <a16:creationId xmlns:a16="http://schemas.microsoft.com/office/drawing/2014/main" id="{A8105808-C1E1-E7A3-B396-52DED40EB7C6}"/>
              </a:ext>
            </a:extLst>
          </p:cNvPr>
          <p:cNvSpPr txBox="1">
            <a:spLocks/>
          </p:cNvSpPr>
          <p:nvPr/>
        </p:nvSpPr>
        <p:spPr>
          <a:xfrm>
            <a:off x="8062391" y="5793228"/>
            <a:ext cx="2653545" cy="365125"/>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Fig. 3 Data Preprocessing</a:t>
            </a:r>
          </a:p>
        </p:txBody>
      </p:sp>
      <p:sp>
        <p:nvSpPr>
          <p:cNvPr id="9" name="Text Placeholder 42">
            <a:extLst>
              <a:ext uri="{FF2B5EF4-FFF2-40B4-BE49-F238E27FC236}">
                <a16:creationId xmlns:a16="http://schemas.microsoft.com/office/drawing/2014/main" id="{7B25213F-86F2-CAA8-EBDF-6F13C2C93F90}"/>
              </a:ext>
            </a:extLst>
          </p:cNvPr>
          <p:cNvSpPr txBox="1">
            <a:spLocks/>
          </p:cNvSpPr>
          <p:nvPr/>
        </p:nvSpPr>
        <p:spPr>
          <a:xfrm>
            <a:off x="1385054" y="5793228"/>
            <a:ext cx="2653545" cy="365125"/>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Fig. 2 Data Input</a:t>
            </a:r>
          </a:p>
        </p:txBody>
      </p:sp>
      <p:pic>
        <p:nvPicPr>
          <p:cNvPr id="10" name="Picture 9">
            <a:extLst>
              <a:ext uri="{FF2B5EF4-FFF2-40B4-BE49-F238E27FC236}">
                <a16:creationId xmlns:a16="http://schemas.microsoft.com/office/drawing/2014/main" id="{8778191E-2ED1-7B2C-E34D-614DC1E9D771}"/>
              </a:ext>
            </a:extLst>
          </p:cNvPr>
          <p:cNvPicPr>
            <a:picLocks noChangeAspect="1"/>
          </p:cNvPicPr>
          <p:nvPr/>
        </p:nvPicPr>
        <p:blipFill>
          <a:blip r:embed="rId2"/>
          <a:stretch>
            <a:fillRect/>
          </a:stretch>
        </p:blipFill>
        <p:spPr>
          <a:xfrm>
            <a:off x="1137643" y="1191553"/>
            <a:ext cx="3962953" cy="4475871"/>
          </a:xfrm>
          <a:prstGeom prst="rect">
            <a:avLst/>
          </a:prstGeom>
        </p:spPr>
      </p:pic>
      <p:pic>
        <p:nvPicPr>
          <p:cNvPr id="13" name="Picture 12">
            <a:extLst>
              <a:ext uri="{FF2B5EF4-FFF2-40B4-BE49-F238E27FC236}">
                <a16:creationId xmlns:a16="http://schemas.microsoft.com/office/drawing/2014/main" id="{3480763F-3F00-4E8C-1CBA-EEF585AFCA3B}"/>
              </a:ext>
            </a:extLst>
          </p:cNvPr>
          <p:cNvPicPr>
            <a:picLocks noChangeAspect="1"/>
          </p:cNvPicPr>
          <p:nvPr/>
        </p:nvPicPr>
        <p:blipFill>
          <a:blip r:embed="rId3"/>
          <a:stretch>
            <a:fillRect/>
          </a:stretch>
        </p:blipFill>
        <p:spPr>
          <a:xfrm>
            <a:off x="6755765" y="1191553"/>
            <a:ext cx="4857750" cy="4475871"/>
          </a:xfrm>
          <a:prstGeom prst="rect">
            <a:avLst/>
          </a:prstGeom>
        </p:spPr>
      </p:pic>
    </p:spTree>
    <p:extLst>
      <p:ext uri="{BB962C8B-B14F-4D97-AF65-F5344CB8AC3E}">
        <p14:creationId xmlns:p14="http://schemas.microsoft.com/office/powerpoint/2010/main" val="276103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AC22-AF3D-94DD-1B57-4ADDE2019B34}"/>
              </a:ext>
            </a:extLst>
          </p:cNvPr>
          <p:cNvSpPr>
            <a:spLocks noGrp="1"/>
          </p:cNvSpPr>
          <p:nvPr>
            <p:ph type="title"/>
          </p:nvPr>
        </p:nvSpPr>
        <p:spPr>
          <a:xfrm>
            <a:off x="651101" y="239234"/>
            <a:ext cx="10889796" cy="572694"/>
          </a:xfrm>
        </p:spPr>
        <p:txBody>
          <a:bodyPr>
            <a:normAutofit fontScale="90000"/>
          </a:bodyPr>
          <a:lstStyle/>
          <a:p>
            <a:pPr algn="ctr"/>
            <a:r>
              <a:rPr lang="en-IN" sz="3600" dirty="0"/>
              <a:t>PROJECT SCREENSHOT</a:t>
            </a:r>
          </a:p>
        </p:txBody>
      </p:sp>
      <p:sp>
        <p:nvSpPr>
          <p:cNvPr id="4" name="Footer Placeholder 3">
            <a:extLst>
              <a:ext uri="{FF2B5EF4-FFF2-40B4-BE49-F238E27FC236}">
                <a16:creationId xmlns:a16="http://schemas.microsoft.com/office/drawing/2014/main" id="{31EC7003-780C-5061-26BA-5849859B981F}"/>
              </a:ext>
            </a:extLst>
          </p:cNvPr>
          <p:cNvSpPr>
            <a:spLocks noGrp="1"/>
          </p:cNvSpPr>
          <p:nvPr>
            <p:ph type="ftr" sz="quarter" idx="28"/>
          </p:nvPr>
        </p:nvSpPr>
        <p:spPr>
          <a:xfrm>
            <a:off x="4038596" y="6217920"/>
            <a:ext cx="4114800" cy="365125"/>
          </a:xfrm>
        </p:spPr>
        <p:txBody>
          <a:bodyPr/>
          <a:lstStyle/>
          <a:p>
            <a:pPr algn="ctr"/>
            <a:r>
              <a:rPr lang="en-US" dirty="0"/>
              <a:t>Internship Review</a:t>
            </a:r>
          </a:p>
        </p:txBody>
      </p:sp>
      <p:sp>
        <p:nvSpPr>
          <p:cNvPr id="5" name="Slide Number Placeholder 4">
            <a:extLst>
              <a:ext uri="{FF2B5EF4-FFF2-40B4-BE49-F238E27FC236}">
                <a16:creationId xmlns:a16="http://schemas.microsoft.com/office/drawing/2014/main" id="{81CFE25B-5EB9-21F5-80B2-F1FB9509024B}"/>
              </a:ext>
            </a:extLst>
          </p:cNvPr>
          <p:cNvSpPr>
            <a:spLocks noGrp="1"/>
          </p:cNvSpPr>
          <p:nvPr>
            <p:ph type="sldNum" sz="quarter" idx="29"/>
          </p:nvPr>
        </p:nvSpPr>
        <p:spPr/>
        <p:txBody>
          <a:bodyPr/>
          <a:lstStyle/>
          <a:p>
            <a:r>
              <a:rPr lang="en-US" altLang="zh-CN" dirty="0"/>
              <a:t>6</a:t>
            </a:r>
          </a:p>
        </p:txBody>
      </p:sp>
      <p:sp>
        <p:nvSpPr>
          <p:cNvPr id="9" name="Text Placeholder 42">
            <a:extLst>
              <a:ext uri="{FF2B5EF4-FFF2-40B4-BE49-F238E27FC236}">
                <a16:creationId xmlns:a16="http://schemas.microsoft.com/office/drawing/2014/main" id="{7B25213F-86F2-CAA8-EBDF-6F13C2C93F90}"/>
              </a:ext>
            </a:extLst>
          </p:cNvPr>
          <p:cNvSpPr txBox="1">
            <a:spLocks/>
          </p:cNvSpPr>
          <p:nvPr/>
        </p:nvSpPr>
        <p:spPr>
          <a:xfrm>
            <a:off x="4769223" y="5842089"/>
            <a:ext cx="2653545" cy="365125"/>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Fig. 4 Model Comparison</a:t>
            </a:r>
          </a:p>
        </p:txBody>
      </p:sp>
      <p:pic>
        <p:nvPicPr>
          <p:cNvPr id="3" name="Picture 2">
            <a:extLst>
              <a:ext uri="{FF2B5EF4-FFF2-40B4-BE49-F238E27FC236}">
                <a16:creationId xmlns:a16="http://schemas.microsoft.com/office/drawing/2014/main" id="{1B91B181-BAC3-84EE-7417-07F4518CC398}"/>
              </a:ext>
            </a:extLst>
          </p:cNvPr>
          <p:cNvPicPr>
            <a:picLocks noChangeAspect="1"/>
          </p:cNvPicPr>
          <p:nvPr/>
        </p:nvPicPr>
        <p:blipFill>
          <a:blip r:embed="rId2"/>
          <a:stretch>
            <a:fillRect/>
          </a:stretch>
        </p:blipFill>
        <p:spPr>
          <a:xfrm>
            <a:off x="1340257" y="1251511"/>
            <a:ext cx="10200640" cy="4388396"/>
          </a:xfrm>
          <a:prstGeom prst="rect">
            <a:avLst/>
          </a:prstGeom>
        </p:spPr>
      </p:pic>
    </p:spTree>
    <p:extLst>
      <p:ext uri="{BB962C8B-B14F-4D97-AF65-F5344CB8AC3E}">
        <p14:creationId xmlns:p14="http://schemas.microsoft.com/office/powerpoint/2010/main" val="304552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AC22-AF3D-94DD-1B57-4ADDE2019B34}"/>
              </a:ext>
            </a:extLst>
          </p:cNvPr>
          <p:cNvSpPr>
            <a:spLocks noGrp="1"/>
          </p:cNvSpPr>
          <p:nvPr>
            <p:ph type="title"/>
          </p:nvPr>
        </p:nvSpPr>
        <p:spPr>
          <a:xfrm>
            <a:off x="651102" y="186132"/>
            <a:ext cx="10889796" cy="572694"/>
          </a:xfrm>
        </p:spPr>
        <p:txBody>
          <a:bodyPr>
            <a:normAutofit fontScale="90000"/>
          </a:bodyPr>
          <a:lstStyle/>
          <a:p>
            <a:pPr algn="ctr"/>
            <a:r>
              <a:rPr lang="en-IN" sz="3600" dirty="0"/>
              <a:t>PROJECT SCREENSHOT</a:t>
            </a:r>
          </a:p>
        </p:txBody>
      </p:sp>
      <p:sp>
        <p:nvSpPr>
          <p:cNvPr id="4" name="Footer Placeholder 3">
            <a:extLst>
              <a:ext uri="{FF2B5EF4-FFF2-40B4-BE49-F238E27FC236}">
                <a16:creationId xmlns:a16="http://schemas.microsoft.com/office/drawing/2014/main" id="{31EC7003-780C-5061-26BA-5849859B981F}"/>
              </a:ext>
            </a:extLst>
          </p:cNvPr>
          <p:cNvSpPr>
            <a:spLocks noGrp="1"/>
          </p:cNvSpPr>
          <p:nvPr>
            <p:ph type="ftr" sz="quarter" idx="28"/>
          </p:nvPr>
        </p:nvSpPr>
        <p:spPr>
          <a:xfrm>
            <a:off x="4038600" y="6306743"/>
            <a:ext cx="4114800" cy="365125"/>
          </a:xfrm>
        </p:spPr>
        <p:txBody>
          <a:bodyPr/>
          <a:lstStyle/>
          <a:p>
            <a:pPr algn="ctr"/>
            <a:r>
              <a:rPr lang="en-US" dirty="0"/>
              <a:t>Internship Review</a:t>
            </a:r>
          </a:p>
        </p:txBody>
      </p:sp>
      <p:sp>
        <p:nvSpPr>
          <p:cNvPr id="5" name="Slide Number Placeholder 4">
            <a:extLst>
              <a:ext uri="{FF2B5EF4-FFF2-40B4-BE49-F238E27FC236}">
                <a16:creationId xmlns:a16="http://schemas.microsoft.com/office/drawing/2014/main" id="{81CFE25B-5EB9-21F5-80B2-F1FB9509024B}"/>
              </a:ext>
            </a:extLst>
          </p:cNvPr>
          <p:cNvSpPr>
            <a:spLocks noGrp="1"/>
          </p:cNvSpPr>
          <p:nvPr>
            <p:ph type="sldNum" sz="quarter" idx="29"/>
          </p:nvPr>
        </p:nvSpPr>
        <p:spPr/>
        <p:txBody>
          <a:bodyPr/>
          <a:lstStyle/>
          <a:p>
            <a:r>
              <a:rPr lang="en-US" altLang="zh-CN" dirty="0"/>
              <a:t>7</a:t>
            </a:r>
          </a:p>
        </p:txBody>
      </p:sp>
      <p:sp>
        <p:nvSpPr>
          <p:cNvPr id="8" name="Text Placeholder 42">
            <a:extLst>
              <a:ext uri="{FF2B5EF4-FFF2-40B4-BE49-F238E27FC236}">
                <a16:creationId xmlns:a16="http://schemas.microsoft.com/office/drawing/2014/main" id="{A8105808-C1E1-E7A3-B396-52DED40EB7C6}"/>
              </a:ext>
            </a:extLst>
          </p:cNvPr>
          <p:cNvSpPr txBox="1">
            <a:spLocks/>
          </p:cNvSpPr>
          <p:nvPr/>
        </p:nvSpPr>
        <p:spPr>
          <a:xfrm>
            <a:off x="4769227" y="5750877"/>
            <a:ext cx="2653545" cy="365125"/>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en-US" sz="1600" dirty="0">
                <a:effectLst/>
                <a:ea typeface="Times New Roman" panose="02020603050405020304" pitchFamily="18" charset="0"/>
              </a:rPr>
              <a:t>Fig. 5 Model Prediction </a:t>
            </a:r>
            <a:endParaRPr lang="en-IN" sz="1600" dirty="0">
              <a:effectLst/>
              <a:ea typeface="Times New Roman" panose="02020603050405020304" pitchFamily="18" charset="0"/>
            </a:endParaRPr>
          </a:p>
        </p:txBody>
      </p:sp>
      <p:pic>
        <p:nvPicPr>
          <p:cNvPr id="6" name="Picture 5">
            <a:extLst>
              <a:ext uri="{FF2B5EF4-FFF2-40B4-BE49-F238E27FC236}">
                <a16:creationId xmlns:a16="http://schemas.microsoft.com/office/drawing/2014/main" id="{B6FA2FAC-0685-9E13-35EA-B12EAF75F746}"/>
              </a:ext>
            </a:extLst>
          </p:cNvPr>
          <p:cNvPicPr>
            <a:picLocks noChangeAspect="1"/>
          </p:cNvPicPr>
          <p:nvPr/>
        </p:nvPicPr>
        <p:blipFill>
          <a:blip r:embed="rId2"/>
          <a:stretch>
            <a:fillRect/>
          </a:stretch>
        </p:blipFill>
        <p:spPr>
          <a:xfrm>
            <a:off x="651102" y="924560"/>
            <a:ext cx="5358130" cy="4287520"/>
          </a:xfrm>
          <a:prstGeom prst="rect">
            <a:avLst/>
          </a:prstGeom>
        </p:spPr>
      </p:pic>
      <p:pic>
        <p:nvPicPr>
          <p:cNvPr id="10" name="Picture 9">
            <a:extLst>
              <a:ext uri="{FF2B5EF4-FFF2-40B4-BE49-F238E27FC236}">
                <a16:creationId xmlns:a16="http://schemas.microsoft.com/office/drawing/2014/main" id="{02220179-D9D5-7762-0537-3713407C568D}"/>
              </a:ext>
            </a:extLst>
          </p:cNvPr>
          <p:cNvPicPr>
            <a:picLocks noChangeAspect="1"/>
          </p:cNvPicPr>
          <p:nvPr/>
        </p:nvPicPr>
        <p:blipFill>
          <a:blip r:embed="rId3"/>
          <a:stretch>
            <a:fillRect/>
          </a:stretch>
        </p:blipFill>
        <p:spPr>
          <a:xfrm>
            <a:off x="6576060" y="924560"/>
            <a:ext cx="5359400" cy="4287520"/>
          </a:xfrm>
          <a:prstGeom prst="rect">
            <a:avLst/>
          </a:prstGeom>
        </p:spPr>
      </p:pic>
    </p:spTree>
    <p:extLst>
      <p:ext uri="{BB962C8B-B14F-4D97-AF65-F5344CB8AC3E}">
        <p14:creationId xmlns:p14="http://schemas.microsoft.com/office/powerpoint/2010/main" val="7875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2FD53DB-CD39-2575-F8BA-63488E81091E}"/>
              </a:ext>
            </a:extLst>
          </p:cNvPr>
          <p:cNvSpPr>
            <a:spLocks noGrp="1"/>
          </p:cNvSpPr>
          <p:nvPr>
            <p:ph type="body" sz="quarter" idx="28"/>
          </p:nvPr>
        </p:nvSpPr>
        <p:spPr>
          <a:xfrm>
            <a:off x="928535" y="1421841"/>
            <a:ext cx="10334929" cy="4653839"/>
          </a:xfrm>
        </p:spPr>
        <p:txBody>
          <a:bodyPr/>
          <a:lstStyle/>
          <a:p>
            <a:pPr algn="just"/>
            <a:r>
              <a:rPr lang="en-IN" sz="2000" dirty="0"/>
              <a:t>	From the analysis and implementation carried out during the internship, it is evident that Machine Learning techniques can be effectively applied in the education domain to address real-world problems such as student dropout prediction. The JEE Dropout Prediction System demonstrates how academic and preparation-related data can be converted into meaningful insights to support early intervention and informed decision-making.</a:t>
            </a:r>
          </a:p>
          <a:p>
            <a:pPr algn="just"/>
            <a:r>
              <a:rPr lang="en-IN" sz="2000" dirty="0"/>
              <a:t>	The project involved implementing and evaluating multiple Machine Learning algorithms to identify the most suitable model for prediction. This helped in understanding the importance of data preprocessing, feature selection, and evaluation metrics in building reliable predictive systems. The successful deployment of the model as a web application highlights the practical usability of Machine Learning in real-world environments.</a:t>
            </a:r>
          </a:p>
          <a:p>
            <a:pPr algn="just"/>
            <a:endParaRPr lang="en-US" sz="1400" dirty="0"/>
          </a:p>
        </p:txBody>
      </p:sp>
      <p:sp>
        <p:nvSpPr>
          <p:cNvPr id="6" name="Title 5">
            <a:extLst>
              <a:ext uri="{FF2B5EF4-FFF2-40B4-BE49-F238E27FC236}">
                <a16:creationId xmlns:a16="http://schemas.microsoft.com/office/drawing/2014/main" id="{4EFA9173-F892-5C7D-99AF-4C5FFB1532B4}"/>
              </a:ext>
            </a:extLst>
          </p:cNvPr>
          <p:cNvSpPr>
            <a:spLocks noGrp="1"/>
          </p:cNvSpPr>
          <p:nvPr>
            <p:ph type="title"/>
          </p:nvPr>
        </p:nvSpPr>
        <p:spPr>
          <a:xfrm>
            <a:off x="1184001" y="515352"/>
            <a:ext cx="9823998" cy="544963"/>
          </a:xfrm>
        </p:spPr>
        <p:txBody>
          <a:bodyPr/>
          <a:lstStyle/>
          <a:p>
            <a:pPr algn="ctr"/>
            <a:r>
              <a:rPr lang="en-US" altLang="zh-CN" sz="3600" dirty="0"/>
              <a:t>SUMMARY</a:t>
            </a:r>
            <a:endParaRPr lang="en-US" sz="3600" dirty="0"/>
          </a:p>
        </p:txBody>
      </p:sp>
      <p:sp>
        <p:nvSpPr>
          <p:cNvPr id="2" name="Footer Placeholder 1">
            <a:extLst>
              <a:ext uri="{FF2B5EF4-FFF2-40B4-BE49-F238E27FC236}">
                <a16:creationId xmlns:a16="http://schemas.microsoft.com/office/drawing/2014/main" id="{E7681B6F-88C1-677B-96B5-49D6304EAF41}"/>
              </a:ext>
            </a:extLst>
          </p:cNvPr>
          <p:cNvSpPr>
            <a:spLocks noGrp="1"/>
          </p:cNvSpPr>
          <p:nvPr>
            <p:ph type="ftr" sz="quarter" idx="49"/>
          </p:nvPr>
        </p:nvSpPr>
        <p:spPr>
          <a:xfrm>
            <a:off x="4038599" y="6160085"/>
            <a:ext cx="4114800" cy="365125"/>
          </a:xfrm>
        </p:spPr>
        <p:txBody>
          <a:bodyPr/>
          <a:lstStyle/>
          <a:p>
            <a:pPr algn="ctr"/>
            <a:r>
              <a:rPr lang="en-US" dirty="0"/>
              <a:t>Internship Review</a:t>
            </a:r>
          </a:p>
        </p:txBody>
      </p:sp>
      <p:sp>
        <p:nvSpPr>
          <p:cNvPr id="3" name="Slide Number Placeholder 2">
            <a:extLst>
              <a:ext uri="{FF2B5EF4-FFF2-40B4-BE49-F238E27FC236}">
                <a16:creationId xmlns:a16="http://schemas.microsoft.com/office/drawing/2014/main" id="{5DD14E38-8C37-CFE8-2C22-2F8856D7F95D}"/>
              </a:ext>
            </a:extLst>
          </p:cNvPr>
          <p:cNvSpPr>
            <a:spLocks noGrp="1"/>
          </p:cNvSpPr>
          <p:nvPr>
            <p:ph type="sldNum" sz="quarter" idx="50"/>
          </p:nvPr>
        </p:nvSpPr>
        <p:spPr/>
        <p:txBody>
          <a:bodyPr/>
          <a:lstStyle/>
          <a:p>
            <a:r>
              <a:rPr lang="en-US" altLang="zh-CN" dirty="0"/>
              <a:t>9</a:t>
            </a:r>
          </a:p>
        </p:txBody>
      </p:sp>
    </p:spTree>
    <p:extLst>
      <p:ext uri="{BB962C8B-B14F-4D97-AF65-F5344CB8AC3E}">
        <p14:creationId xmlns:p14="http://schemas.microsoft.com/office/powerpoint/2010/main" val="415753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xEl>
                                              <p:pRg st="0" end="0"/>
                                            </p:txEl>
                                          </p:spTgt>
                                        </p:tgtEl>
                                        <p:attrNameLst>
                                          <p:attrName>style.visibility</p:attrName>
                                        </p:attrNameLst>
                                      </p:cBhvr>
                                      <p:to>
                                        <p:strVal val="visible"/>
                                      </p:to>
                                    </p:set>
                                    <p:animEffect transition="in" filter="fade">
                                      <p:cBhvr>
                                        <p:cTn id="10" dur="500"/>
                                        <p:tgtEl>
                                          <p:spTgt spid="2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animEffect transition="in" filter="fade">
                                      <p:cBhvr>
                                        <p:cTn id="13" dur="500"/>
                                        <p:tgtEl>
                                          <p:spTgt spid="29">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6"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3" cstate="print">
            <a:extLst>
              <a:ext uri="{28A0092B-C50C-407E-A947-70E740481C1C}">
                <a14:useLocalDpi xmlns:a14="http://schemas.microsoft.com/office/drawing/2010/main"/>
              </a:ext>
            </a:extLst>
          </a:blip>
          <a:srcRect l="34" r="34"/>
          <a:stretch/>
        </p:blipFill>
        <p:spPr/>
      </p:pic>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4" cstate="print">
            <a:extLst>
              <a:ext uri="{28A0092B-C50C-407E-A947-70E740481C1C}">
                <a14:useLocalDpi xmlns:a14="http://schemas.microsoft.com/office/drawing/2010/main"/>
              </a:ext>
            </a:extLst>
          </a:blip>
          <a:srcRect l="34" r="34"/>
          <a:stretch/>
        </p:blipFill>
        <p:spPr/>
      </p:pic>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5" cstate="print">
            <a:extLst>
              <a:ext uri="{28A0092B-C50C-407E-A947-70E740481C1C}">
                <a14:useLocalDpi xmlns:a14="http://schemas.microsoft.com/office/drawing/2010/main"/>
              </a:ext>
            </a:extLst>
          </a:blip>
          <a:srcRect l="88" r="88"/>
          <a:stretch>
            <a:fill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6" cstate="print">
            <a:extLst>
              <a:ext uri="{28A0092B-C50C-407E-A947-70E740481C1C}">
                <a14:useLocalDpi xmlns:a14="http://schemas.microsoft.com/office/drawing/2010/main"/>
              </a:ext>
            </a:extLst>
          </a:blip>
          <a:srcRect l="34" r="34"/>
          <a:stretch/>
        </p:blipFill>
        <p:spPr/>
      </p:pic>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96000" y="2819019"/>
            <a:ext cx="5055698" cy="655552"/>
          </a:xfrm>
        </p:spPr>
        <p:txBody>
          <a:bodyPr/>
          <a:lstStyle/>
          <a:p>
            <a:pPr algn="ctr"/>
            <a:r>
              <a:rPr lang="en-US" dirty="0"/>
              <a:t>Thank you</a:t>
            </a:r>
          </a:p>
        </p:txBody>
      </p:sp>
    </p:spTree>
    <p:extLst>
      <p:ext uri="{BB962C8B-B14F-4D97-AF65-F5344CB8AC3E}">
        <p14:creationId xmlns:p14="http://schemas.microsoft.com/office/powerpoint/2010/main" val="52927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241</TotalTime>
  <Words>1088</Words>
  <Application>Microsoft Office PowerPoint</Application>
  <PresentationFormat>Widescreen</PresentationFormat>
  <Paragraphs>109</Paragraphs>
  <Slides>14</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等线</vt:lpstr>
      <vt:lpstr>Abadi</vt:lpstr>
      <vt:lpstr>Abadi (Body)</vt:lpstr>
      <vt:lpstr>Arial</vt:lpstr>
      <vt:lpstr>Calibri</vt:lpstr>
      <vt:lpstr>Calibri Light</vt:lpstr>
      <vt:lpstr>Posterama Text Black (Headings)</vt:lpstr>
      <vt:lpstr>Posterama Text SemiBold</vt:lpstr>
      <vt:lpstr>Times New Roman</vt:lpstr>
      <vt:lpstr>Office Theme</vt:lpstr>
      <vt:lpstr>INTERNSHIP REVIEW</vt:lpstr>
      <vt:lpstr>Agenda</vt:lpstr>
      <vt:lpstr>COMPANY PROFILE</vt:lpstr>
      <vt:lpstr>PROJECT DETAILS</vt:lpstr>
      <vt:lpstr>PROJECT MODULES</vt:lpstr>
      <vt:lpstr>PROJECT MODULES</vt:lpstr>
      <vt:lpstr>PROJECT MODULES</vt:lpstr>
      <vt:lpstr>PROJECT MODULES</vt:lpstr>
      <vt:lpstr>PROJECT SCREENSHOT</vt:lpstr>
      <vt:lpstr>PROJECT SCREENSHOT</vt:lpstr>
      <vt:lpstr>PROJECT SCREENSHOT</vt:lpstr>
      <vt:lpstr>PROJECT SCREENSHOT</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REVIEW</dc:title>
  <dc:creator>Raghavendar S</dc:creator>
  <cp:lastModifiedBy>advaith g</cp:lastModifiedBy>
  <cp:revision>49</cp:revision>
  <dcterms:created xsi:type="dcterms:W3CDTF">2023-11-05T06:49:33Z</dcterms:created>
  <dcterms:modified xsi:type="dcterms:W3CDTF">2026-02-02T05:57:54Z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